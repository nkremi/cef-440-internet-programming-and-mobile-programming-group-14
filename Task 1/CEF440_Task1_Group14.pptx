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11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502920" y="1005840"/>
            <a:ext cx="64008" cy="3200400"/>
          </a:xfrm>
          <a:prstGeom prst="rect">
            <a:avLst/>
          </a:prstGeom>
          <a:solidFill>
            <a:srgbClr val="C9A84C"/>
          </a:solidFill>
          <a:ln w="12700">
            <a:solidFill>
              <a:srgbClr val="C9A84C"/>
            </a:solidFill>
            <a:prstDash val="solid"/>
          </a:ln>
        </p:spPr>
      </p:sp>
      <p:sp>
        <p:nvSpPr>
          <p:cNvPr id="4" name="Text 2"/>
          <p:cNvSpPr/>
          <p:nvPr/>
        </p:nvSpPr>
        <p:spPr>
          <a:xfrm>
            <a:off x="749808" y="1051560"/>
            <a:ext cx="8046720" cy="411480"/>
          </a:xfrm>
          <a:prstGeom prst="rect">
            <a:avLst/>
          </a:prstGeom>
          <a:noFill/>
          <a:ln/>
        </p:spPr>
        <p:txBody>
          <a:bodyPr wrap="square" lIns="0" tIns="0" rIns="0" bIns="0" rtlCol="0" anchor="ctr"/>
          <a:lstStyle/>
          <a:p>
            <a:pPr marL="0" indent="0">
              <a:buNone/>
            </a:pPr>
            <a:r>
              <a:rPr lang="en-US" sz="1100" b="1" kern="0" spc="300" dirty="0">
                <a:solidFill>
                  <a:srgbClr val="E8C96A"/>
                </a:solidFill>
                <a:latin typeface="Calibri" pitchFamily="34" charset="0"/>
                <a:ea typeface="Calibri" pitchFamily="34" charset="-122"/>
                <a:cs typeface="Calibri" pitchFamily="34" charset="-120"/>
              </a:rPr>
              <a:t>CEF440 — INTERNET &amp; MOBILE PROGRAMMING</a:t>
            </a:r>
            <a:endParaRPr lang="en-US" sz="1100" dirty="0"/>
          </a:p>
        </p:txBody>
      </p:sp>
      <p:sp>
        <p:nvSpPr>
          <p:cNvPr id="5" name="Text 3"/>
          <p:cNvSpPr/>
          <p:nvPr/>
        </p:nvSpPr>
        <p:spPr>
          <a:xfrm>
            <a:off x="749808" y="1508760"/>
            <a:ext cx="7772400" cy="1645920"/>
          </a:xfrm>
          <a:prstGeom prst="rect">
            <a:avLst/>
          </a:prstGeom>
          <a:noFill/>
          <a:ln/>
        </p:spPr>
        <p:txBody>
          <a:bodyPr wrap="square" lIns="0" tIns="0" rIns="0" bIns="0" rtlCol="0" anchor="ctr"/>
          <a:lstStyle/>
          <a:p>
            <a:pPr marL="0" indent="0">
              <a:lnSpc>
                <a:spcPct val="110000"/>
              </a:lnSpc>
              <a:buNone/>
            </a:pPr>
            <a:r>
              <a:rPr lang="en-US" sz="4200" b="1" dirty="0">
                <a:solidFill>
                  <a:srgbClr val="FFFFFF"/>
                </a:solidFill>
                <a:latin typeface="Georgia" pitchFamily="34" charset="0"/>
                <a:ea typeface="Georgia" pitchFamily="34" charset="-122"/>
                <a:cs typeface="Georgia" pitchFamily="34" charset="-120"/>
              </a:rPr>
              <a:t>Task 1 Report</a:t>
            </a:r>
            <a:endParaRPr lang="en-US" sz="4200" dirty="0"/>
          </a:p>
          <a:p>
            <a:pPr marL="0" indent="0">
              <a:lnSpc>
                <a:spcPct val="110000"/>
              </a:lnSpc>
              <a:buNone/>
            </a:pPr>
            <a:r>
              <a:rPr lang="en-US" sz="4200" b="1" dirty="0">
                <a:solidFill>
                  <a:srgbClr val="FFFFFF"/>
                </a:solidFill>
                <a:latin typeface="Georgia" pitchFamily="34" charset="0"/>
                <a:ea typeface="Georgia" pitchFamily="34" charset="-122"/>
                <a:cs typeface="Georgia" pitchFamily="34" charset="-120"/>
              </a:rPr>
              <a:t>Presentation</a:t>
            </a:r>
            <a:endParaRPr lang="en-US" sz="4200" dirty="0"/>
          </a:p>
        </p:txBody>
      </p:sp>
      <p:sp>
        <p:nvSpPr>
          <p:cNvPr id="6" name="Text 4"/>
          <p:cNvSpPr/>
          <p:nvPr/>
        </p:nvSpPr>
        <p:spPr>
          <a:xfrm>
            <a:off x="749808" y="3200400"/>
            <a:ext cx="7589520" cy="777240"/>
          </a:xfrm>
          <a:prstGeom prst="rect">
            <a:avLst/>
          </a:prstGeom>
          <a:noFill/>
          <a:ln/>
        </p:spPr>
        <p:txBody>
          <a:bodyPr wrap="square" lIns="0" tIns="0" rIns="0" bIns="0" rtlCol="0" anchor="ctr"/>
          <a:lstStyle/>
          <a:p>
            <a:pPr marL="0" indent="0">
              <a:lnSpc>
                <a:spcPct val="130000"/>
              </a:lnSpc>
              <a:buNone/>
            </a:pPr>
            <a:r>
              <a:rPr lang="en-US" sz="1400" i="1" dirty="0">
                <a:solidFill>
                  <a:srgbClr val="E8C96A"/>
                </a:solidFill>
                <a:latin typeface="Calibri" pitchFamily="34" charset="0"/>
                <a:ea typeface="Calibri" pitchFamily="34" charset="-122"/>
                <a:cs typeface="Calibri" pitchFamily="34" charset="-120"/>
              </a:rPr>
              <a:t>A structured overview of mobile app development —</a:t>
            </a:r>
            <a:endParaRPr lang="en-US" sz="1400" dirty="0"/>
          </a:p>
          <a:p>
            <a:pPr marL="0" indent="0">
              <a:lnSpc>
                <a:spcPct val="130000"/>
              </a:lnSpc>
              <a:buNone/>
            </a:pPr>
            <a:r>
              <a:rPr lang="en-US" sz="1400" i="1" dirty="0">
                <a:solidFill>
                  <a:srgbClr val="E8C96A"/>
                </a:solidFill>
                <a:latin typeface="Calibri" pitchFamily="34" charset="0"/>
                <a:ea typeface="Calibri" pitchFamily="34" charset="-122"/>
                <a:cs typeface="Calibri" pitchFamily="34" charset="-120"/>
              </a:rPr>
              <a:t>from types and languages to architecture, requirements, and cost.</a:t>
            </a:r>
            <a:endParaRPr lang="en-US" sz="1400" dirty="0"/>
          </a:p>
        </p:txBody>
      </p:sp>
      <p:sp>
        <p:nvSpPr>
          <p:cNvPr id="7" name="Shape 5"/>
          <p:cNvSpPr/>
          <p:nvPr/>
        </p:nvSpPr>
        <p:spPr>
          <a:xfrm>
            <a:off x="0" y="4189549"/>
            <a:ext cx="9144000" cy="978408"/>
          </a:xfrm>
          <a:prstGeom prst="rect">
            <a:avLst/>
          </a:prstGeom>
          <a:solidFill>
            <a:srgbClr val="243557"/>
          </a:solidFill>
          <a:ln w="12700">
            <a:solidFill>
              <a:srgbClr val="243557"/>
            </a:solidFill>
            <a:prstDash val="solid"/>
          </a:ln>
        </p:spPr>
        <p:txBody>
          <a:bodyPr/>
          <a:lstStyle/>
          <a:p>
            <a:endParaRPr lang="en-CM" dirty="0"/>
          </a:p>
        </p:txBody>
      </p:sp>
      <p:sp>
        <p:nvSpPr>
          <p:cNvPr id="8" name="Text 6"/>
          <p:cNvSpPr/>
          <p:nvPr/>
        </p:nvSpPr>
        <p:spPr>
          <a:xfrm>
            <a:off x="457200" y="4187952"/>
            <a:ext cx="82296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Group 14   </a:t>
            </a:r>
            <a:endParaRPr lang="en-US" sz="1200" dirty="0"/>
          </a:p>
        </p:txBody>
      </p:sp>
      <p:sp>
        <p:nvSpPr>
          <p:cNvPr id="9" name="Text 7"/>
          <p:cNvSpPr/>
          <p:nvPr/>
        </p:nvSpPr>
        <p:spPr>
          <a:xfrm>
            <a:off x="457200" y="4572000"/>
            <a:ext cx="8229600" cy="347472"/>
          </a:xfrm>
          <a:prstGeom prst="rect">
            <a:avLst/>
          </a:prstGeom>
          <a:noFill/>
          <a:ln/>
        </p:spPr>
        <p:txBody>
          <a:bodyPr wrap="square" lIns="0" tIns="0" rIns="0" bIns="0" rtlCol="0" anchor="ctr"/>
          <a:lstStyle/>
          <a:p>
            <a:pPr marL="0" indent="0">
              <a:buNone/>
            </a:pPr>
            <a:r>
              <a:rPr lang="en-US" sz="1000" dirty="0">
                <a:solidFill>
                  <a:srgbClr val="E8C96A"/>
                </a:solidFill>
                <a:latin typeface="Calibri" pitchFamily="34" charset="0"/>
                <a:ea typeface="Calibri" pitchFamily="34" charset="-122"/>
                <a:cs typeface="Calibri" pitchFamily="34" charset="-120"/>
              </a:rPr>
              <a:t>Instructor: Dr. Nkemeni Valery   ·   University of Buea, Faculty of Engineering &amp; Technology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57200" y="0"/>
            <a:ext cx="822960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This Presentation Covers</a:t>
            </a:r>
            <a:endParaRPr lang="en-US" sz="2600" dirty="0"/>
          </a:p>
        </p:txBody>
      </p:sp>
      <p:sp>
        <p:nvSpPr>
          <p:cNvPr id="5" name="Shape 3"/>
          <p:cNvSpPr/>
          <p:nvPr/>
        </p:nvSpPr>
        <p:spPr>
          <a:xfrm>
            <a:off x="0" y="4892040"/>
            <a:ext cx="9144000" cy="251460"/>
          </a:xfrm>
          <a:prstGeom prst="rect">
            <a:avLst/>
          </a:prstGeom>
          <a:solidFill>
            <a:srgbClr val="243557"/>
          </a:solidFill>
          <a:ln w="12700">
            <a:solidFill>
              <a:srgbClr val="243557"/>
            </a:solidFill>
            <a:prstDash val="solid"/>
          </a:ln>
        </p:spPr>
      </p:sp>
      <p:sp>
        <p:nvSpPr>
          <p:cNvPr id="6" name="Text 4"/>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7" name="Text 5"/>
          <p:cNvSpPr/>
          <p:nvPr/>
        </p:nvSpPr>
        <p:spPr>
          <a:xfrm>
            <a:off x="457200" y="1051560"/>
            <a:ext cx="8229600" cy="384048"/>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Six interconnected topics — each one building toward a complete picture of mobile app development.</a:t>
            </a:r>
            <a:endParaRPr lang="en-US" sz="1300" dirty="0"/>
          </a:p>
        </p:txBody>
      </p:sp>
      <p:sp>
        <p:nvSpPr>
          <p:cNvPr id="8" name="Shape 6"/>
          <p:cNvSpPr/>
          <p:nvPr/>
        </p:nvSpPr>
        <p:spPr>
          <a:xfrm>
            <a:off x="320040" y="1536192"/>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9" name="Shape 7"/>
          <p:cNvSpPr/>
          <p:nvPr/>
        </p:nvSpPr>
        <p:spPr>
          <a:xfrm>
            <a:off x="320040" y="1536192"/>
            <a:ext cx="64008" cy="960120"/>
          </a:xfrm>
          <a:prstGeom prst="rect">
            <a:avLst/>
          </a:prstGeom>
          <a:solidFill>
            <a:srgbClr val="C9A84C"/>
          </a:solidFill>
          <a:ln w="12700">
            <a:solidFill>
              <a:srgbClr val="C9A84C"/>
            </a:solidFill>
            <a:prstDash val="solid"/>
          </a:ln>
        </p:spPr>
      </p:sp>
      <p:sp>
        <p:nvSpPr>
          <p:cNvPr id="10" name="Text 8"/>
          <p:cNvSpPr/>
          <p:nvPr/>
        </p:nvSpPr>
        <p:spPr>
          <a:xfrm>
            <a:off x="457200" y="1609344"/>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01</a:t>
            </a:r>
            <a:endParaRPr lang="en-US" sz="2000" dirty="0"/>
          </a:p>
        </p:txBody>
      </p:sp>
      <p:sp>
        <p:nvSpPr>
          <p:cNvPr id="11" name="Text 9"/>
          <p:cNvSpPr/>
          <p:nvPr/>
        </p:nvSpPr>
        <p:spPr>
          <a:xfrm>
            <a:off x="457200" y="1975104"/>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Types of Mobile Apps</a:t>
            </a:r>
            <a:endParaRPr lang="en-US" sz="1200" dirty="0"/>
          </a:p>
        </p:txBody>
      </p:sp>
      <p:sp>
        <p:nvSpPr>
          <p:cNvPr id="12" name="Text 10"/>
          <p:cNvSpPr/>
          <p:nvPr/>
        </p:nvSpPr>
        <p:spPr>
          <a:xfrm>
            <a:off x="457200" y="2212848"/>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Native · Hybrid · PWA · Web · Cross-Platform</a:t>
            </a:r>
            <a:endParaRPr lang="en-US" sz="1000" dirty="0"/>
          </a:p>
        </p:txBody>
      </p:sp>
      <p:sp>
        <p:nvSpPr>
          <p:cNvPr id="13" name="Shape 11"/>
          <p:cNvSpPr/>
          <p:nvPr/>
        </p:nvSpPr>
        <p:spPr>
          <a:xfrm>
            <a:off x="4709160" y="1536192"/>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4" name="Shape 12"/>
          <p:cNvSpPr/>
          <p:nvPr/>
        </p:nvSpPr>
        <p:spPr>
          <a:xfrm>
            <a:off x="4709160" y="1536192"/>
            <a:ext cx="64008" cy="960120"/>
          </a:xfrm>
          <a:prstGeom prst="rect">
            <a:avLst/>
          </a:prstGeom>
          <a:solidFill>
            <a:srgbClr val="C9A84C"/>
          </a:solidFill>
          <a:ln w="12700">
            <a:solidFill>
              <a:srgbClr val="C9A84C"/>
            </a:solidFill>
            <a:prstDash val="solid"/>
          </a:ln>
        </p:spPr>
      </p:sp>
      <p:sp>
        <p:nvSpPr>
          <p:cNvPr id="15" name="Text 13"/>
          <p:cNvSpPr/>
          <p:nvPr/>
        </p:nvSpPr>
        <p:spPr>
          <a:xfrm>
            <a:off x="4846320" y="1609344"/>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02</a:t>
            </a:r>
            <a:endParaRPr lang="en-US" sz="2000" dirty="0"/>
          </a:p>
        </p:txBody>
      </p:sp>
      <p:sp>
        <p:nvSpPr>
          <p:cNvPr id="16" name="Text 14"/>
          <p:cNvSpPr/>
          <p:nvPr/>
        </p:nvSpPr>
        <p:spPr>
          <a:xfrm>
            <a:off x="4846320" y="1975104"/>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Programming Languages</a:t>
            </a:r>
            <a:endParaRPr lang="en-US" sz="1200" dirty="0"/>
          </a:p>
        </p:txBody>
      </p:sp>
      <p:sp>
        <p:nvSpPr>
          <p:cNvPr id="17" name="Text 15"/>
          <p:cNvSpPr/>
          <p:nvPr/>
        </p:nvSpPr>
        <p:spPr>
          <a:xfrm>
            <a:off x="4846320" y="2212848"/>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Native &amp; Cross-Platform language choices</a:t>
            </a:r>
            <a:endParaRPr lang="en-US" sz="1000" dirty="0"/>
          </a:p>
        </p:txBody>
      </p:sp>
      <p:sp>
        <p:nvSpPr>
          <p:cNvPr id="18" name="Shape 16"/>
          <p:cNvSpPr/>
          <p:nvPr/>
        </p:nvSpPr>
        <p:spPr>
          <a:xfrm>
            <a:off x="320040" y="2615184"/>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9" name="Shape 17"/>
          <p:cNvSpPr/>
          <p:nvPr/>
        </p:nvSpPr>
        <p:spPr>
          <a:xfrm>
            <a:off x="320040" y="2615184"/>
            <a:ext cx="64008" cy="960120"/>
          </a:xfrm>
          <a:prstGeom prst="rect">
            <a:avLst/>
          </a:prstGeom>
          <a:solidFill>
            <a:srgbClr val="C9A84C"/>
          </a:solidFill>
          <a:ln w="12700">
            <a:solidFill>
              <a:srgbClr val="C9A84C"/>
            </a:solidFill>
            <a:prstDash val="solid"/>
          </a:ln>
        </p:spPr>
      </p:sp>
      <p:sp>
        <p:nvSpPr>
          <p:cNvPr id="20" name="Text 18"/>
          <p:cNvSpPr/>
          <p:nvPr/>
        </p:nvSpPr>
        <p:spPr>
          <a:xfrm>
            <a:off x="457200" y="2688336"/>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03</a:t>
            </a:r>
            <a:endParaRPr lang="en-US" sz="2000" dirty="0"/>
          </a:p>
        </p:txBody>
      </p:sp>
      <p:sp>
        <p:nvSpPr>
          <p:cNvPr id="21" name="Text 19"/>
          <p:cNvSpPr/>
          <p:nvPr/>
        </p:nvSpPr>
        <p:spPr>
          <a:xfrm>
            <a:off x="457200" y="3054096"/>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Development Frameworks</a:t>
            </a:r>
            <a:endParaRPr lang="en-US" sz="1200" dirty="0"/>
          </a:p>
        </p:txBody>
      </p:sp>
      <p:sp>
        <p:nvSpPr>
          <p:cNvPr id="22" name="Text 20"/>
          <p:cNvSpPr/>
          <p:nvPr/>
        </p:nvSpPr>
        <p:spPr>
          <a:xfrm>
            <a:off x="457200" y="3291840"/>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Flutter · React Native · Ionic · Xamarin &amp; more</a:t>
            </a:r>
            <a:endParaRPr lang="en-US" sz="1000" dirty="0"/>
          </a:p>
        </p:txBody>
      </p:sp>
      <p:sp>
        <p:nvSpPr>
          <p:cNvPr id="23" name="Shape 21"/>
          <p:cNvSpPr/>
          <p:nvPr/>
        </p:nvSpPr>
        <p:spPr>
          <a:xfrm>
            <a:off x="4709160" y="2615184"/>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4" name="Shape 22"/>
          <p:cNvSpPr/>
          <p:nvPr/>
        </p:nvSpPr>
        <p:spPr>
          <a:xfrm>
            <a:off x="4709160" y="2615184"/>
            <a:ext cx="64008" cy="960120"/>
          </a:xfrm>
          <a:prstGeom prst="rect">
            <a:avLst/>
          </a:prstGeom>
          <a:solidFill>
            <a:srgbClr val="C9A84C"/>
          </a:solidFill>
          <a:ln w="12700">
            <a:solidFill>
              <a:srgbClr val="C9A84C"/>
            </a:solidFill>
            <a:prstDash val="solid"/>
          </a:ln>
        </p:spPr>
      </p:sp>
      <p:sp>
        <p:nvSpPr>
          <p:cNvPr id="25" name="Text 23"/>
          <p:cNvSpPr/>
          <p:nvPr/>
        </p:nvSpPr>
        <p:spPr>
          <a:xfrm>
            <a:off x="4846320" y="2688336"/>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04</a:t>
            </a:r>
            <a:endParaRPr lang="en-US" sz="2000" dirty="0"/>
          </a:p>
        </p:txBody>
      </p:sp>
      <p:sp>
        <p:nvSpPr>
          <p:cNvPr id="26" name="Text 24"/>
          <p:cNvSpPr/>
          <p:nvPr/>
        </p:nvSpPr>
        <p:spPr>
          <a:xfrm>
            <a:off x="4846320" y="3054096"/>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Architecture &amp; Design Patterns</a:t>
            </a:r>
            <a:endParaRPr lang="en-US" sz="1200" dirty="0"/>
          </a:p>
        </p:txBody>
      </p:sp>
      <p:sp>
        <p:nvSpPr>
          <p:cNvPr id="27" name="Text 25"/>
          <p:cNvSpPr/>
          <p:nvPr/>
        </p:nvSpPr>
        <p:spPr>
          <a:xfrm>
            <a:off x="4846320" y="3291840"/>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MVC · MVVM · VIPER + 7 Design Patterns</a:t>
            </a:r>
            <a:endParaRPr lang="en-US" sz="1000" dirty="0"/>
          </a:p>
        </p:txBody>
      </p:sp>
      <p:sp>
        <p:nvSpPr>
          <p:cNvPr id="28" name="Shape 26"/>
          <p:cNvSpPr/>
          <p:nvPr/>
        </p:nvSpPr>
        <p:spPr>
          <a:xfrm>
            <a:off x="320040" y="3694176"/>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9" name="Shape 27"/>
          <p:cNvSpPr/>
          <p:nvPr/>
        </p:nvSpPr>
        <p:spPr>
          <a:xfrm>
            <a:off x="320040" y="3694176"/>
            <a:ext cx="64008" cy="960120"/>
          </a:xfrm>
          <a:prstGeom prst="rect">
            <a:avLst/>
          </a:prstGeom>
          <a:solidFill>
            <a:srgbClr val="C9A84C"/>
          </a:solidFill>
          <a:ln w="12700">
            <a:solidFill>
              <a:srgbClr val="C9A84C"/>
            </a:solidFill>
            <a:prstDash val="solid"/>
          </a:ln>
        </p:spPr>
      </p:sp>
      <p:sp>
        <p:nvSpPr>
          <p:cNvPr id="30" name="Text 28"/>
          <p:cNvSpPr/>
          <p:nvPr/>
        </p:nvSpPr>
        <p:spPr>
          <a:xfrm>
            <a:off x="457200" y="3767328"/>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05</a:t>
            </a:r>
            <a:endParaRPr lang="en-US" sz="2000" dirty="0"/>
          </a:p>
        </p:txBody>
      </p:sp>
      <p:sp>
        <p:nvSpPr>
          <p:cNvPr id="31" name="Text 29"/>
          <p:cNvSpPr/>
          <p:nvPr/>
        </p:nvSpPr>
        <p:spPr>
          <a:xfrm>
            <a:off x="457200" y="4133088"/>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Requirement Engineering</a:t>
            </a:r>
            <a:endParaRPr lang="en-US" sz="1200" dirty="0"/>
          </a:p>
        </p:txBody>
      </p:sp>
      <p:sp>
        <p:nvSpPr>
          <p:cNvPr id="32" name="Text 30"/>
          <p:cNvSpPr/>
          <p:nvPr/>
        </p:nvSpPr>
        <p:spPr>
          <a:xfrm>
            <a:off x="457200" y="4370832"/>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10-step process from idea to validated requirements</a:t>
            </a:r>
            <a:endParaRPr lang="en-US" sz="1000" dirty="0"/>
          </a:p>
        </p:txBody>
      </p:sp>
      <p:sp>
        <p:nvSpPr>
          <p:cNvPr id="33" name="Shape 31"/>
          <p:cNvSpPr/>
          <p:nvPr/>
        </p:nvSpPr>
        <p:spPr>
          <a:xfrm>
            <a:off x="4709160" y="3694176"/>
            <a:ext cx="4160520" cy="960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34" name="Shape 32"/>
          <p:cNvSpPr/>
          <p:nvPr/>
        </p:nvSpPr>
        <p:spPr>
          <a:xfrm>
            <a:off x="4709160" y="3694176"/>
            <a:ext cx="64008" cy="960120"/>
          </a:xfrm>
          <a:prstGeom prst="rect">
            <a:avLst/>
          </a:prstGeom>
          <a:solidFill>
            <a:srgbClr val="C9A84C"/>
          </a:solidFill>
          <a:ln w="12700">
            <a:solidFill>
              <a:srgbClr val="C9A84C"/>
            </a:solidFill>
            <a:prstDash val="solid"/>
          </a:ln>
        </p:spPr>
      </p:sp>
      <p:sp>
        <p:nvSpPr>
          <p:cNvPr id="35" name="Text 33"/>
          <p:cNvSpPr/>
          <p:nvPr/>
        </p:nvSpPr>
        <p:spPr>
          <a:xfrm>
            <a:off x="4846320" y="3767328"/>
            <a:ext cx="640080" cy="384048"/>
          </a:xfrm>
          <a:prstGeom prst="rect">
            <a:avLst/>
          </a:prstGeom>
          <a:noFill/>
          <a:ln/>
        </p:spPr>
        <p:txBody>
          <a:bodyPr wrap="square" lIns="0" tIns="0" rIns="0" bIns="0" rtlCol="0" anchor="ctr"/>
          <a:lstStyle/>
          <a:p>
            <a:pPr marL="0" indent="0">
              <a:buNone/>
            </a:pPr>
            <a:r>
              <a:rPr lang="en-US" sz="2000" b="1" dirty="0">
                <a:solidFill>
                  <a:srgbClr val="C9A84C"/>
                </a:solidFill>
                <a:latin typeface="Georgia" pitchFamily="34" charset="0"/>
                <a:ea typeface="Georgia" pitchFamily="34" charset="-122"/>
                <a:cs typeface="Georgia" pitchFamily="34" charset="-120"/>
              </a:rPr>
              <a:t>06</a:t>
            </a:r>
            <a:endParaRPr lang="en-US" sz="2000" dirty="0"/>
          </a:p>
        </p:txBody>
      </p:sp>
      <p:sp>
        <p:nvSpPr>
          <p:cNvPr id="36" name="Text 34"/>
          <p:cNvSpPr/>
          <p:nvPr/>
        </p:nvSpPr>
        <p:spPr>
          <a:xfrm>
            <a:off x="4846320" y="4133088"/>
            <a:ext cx="384048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Cost Estimation</a:t>
            </a:r>
            <a:endParaRPr lang="en-US" sz="1200" dirty="0"/>
          </a:p>
        </p:txBody>
      </p:sp>
      <p:sp>
        <p:nvSpPr>
          <p:cNvPr id="37" name="Text 35"/>
          <p:cNvSpPr/>
          <p:nvPr/>
        </p:nvSpPr>
        <p:spPr>
          <a:xfrm>
            <a:off x="4846320" y="4370832"/>
            <a:ext cx="3840480" cy="21945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Factors, breakdown by stage, and optimisation tips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01</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Types of Mobile Apps</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24128"/>
            <a:ext cx="82296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Not all apps are created equal. The type you choose shapes your cost, performance, and reach.</a:t>
            </a:r>
            <a:endParaRPr lang="en-US" sz="1200" dirty="0"/>
          </a:p>
        </p:txBody>
      </p:sp>
      <p:sp>
        <p:nvSpPr>
          <p:cNvPr id="10" name="Shape 8"/>
          <p:cNvSpPr/>
          <p:nvPr/>
        </p:nvSpPr>
        <p:spPr>
          <a:xfrm>
            <a:off x="228600" y="1481328"/>
            <a:ext cx="2788920" cy="14173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1" name="Shape 9"/>
          <p:cNvSpPr/>
          <p:nvPr/>
        </p:nvSpPr>
        <p:spPr>
          <a:xfrm>
            <a:off x="228600" y="1481328"/>
            <a:ext cx="64008" cy="1417320"/>
          </a:xfrm>
          <a:prstGeom prst="rect">
            <a:avLst/>
          </a:prstGeom>
          <a:solidFill>
            <a:srgbClr val="C9A84C"/>
          </a:solidFill>
          <a:ln w="12700">
            <a:solidFill>
              <a:srgbClr val="C9A84C"/>
            </a:solidFill>
            <a:prstDash val="solid"/>
          </a:ln>
        </p:spPr>
      </p:sp>
      <p:sp>
        <p:nvSpPr>
          <p:cNvPr id="12" name="Text 10"/>
          <p:cNvSpPr/>
          <p:nvPr/>
        </p:nvSpPr>
        <p:spPr>
          <a:xfrm>
            <a:off x="356616" y="1572768"/>
            <a:ext cx="260604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Web Apps</a:t>
            </a:r>
            <a:endParaRPr lang="en-US" sz="1100" dirty="0"/>
          </a:p>
        </p:txBody>
      </p:sp>
      <p:sp>
        <p:nvSpPr>
          <p:cNvPr id="13" name="Shape 11"/>
          <p:cNvSpPr/>
          <p:nvPr/>
        </p:nvSpPr>
        <p:spPr>
          <a:xfrm>
            <a:off x="356616" y="1865376"/>
            <a:ext cx="2560320" cy="9144"/>
          </a:xfrm>
          <a:prstGeom prst="rect">
            <a:avLst/>
          </a:prstGeom>
          <a:solidFill>
            <a:srgbClr val="E2E8F0"/>
          </a:solidFill>
          <a:ln w="12700">
            <a:solidFill>
              <a:srgbClr val="E2E8F0"/>
            </a:solidFill>
            <a:prstDash val="solid"/>
          </a:ln>
        </p:spPr>
      </p:sp>
      <p:sp>
        <p:nvSpPr>
          <p:cNvPr id="14" name="Text 12"/>
          <p:cNvSpPr/>
          <p:nvPr/>
        </p:nvSpPr>
        <p:spPr>
          <a:xfrm>
            <a:off x="338328" y="1901952"/>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2D6A4F"/>
                </a:solidFill>
                <a:latin typeface="Calibri" pitchFamily="34" charset="0"/>
                <a:ea typeface="Calibri" pitchFamily="34" charset="-122"/>
                <a:cs typeface="Calibri" pitchFamily="34" charset="-120"/>
              </a:rPr>
              <a:t>✔  No download needed · Easy to maintain · Works on all devices</a:t>
            </a:r>
            <a:endParaRPr lang="en-US" sz="950" dirty="0"/>
          </a:p>
        </p:txBody>
      </p:sp>
      <p:sp>
        <p:nvSpPr>
          <p:cNvPr id="15" name="Text 13"/>
          <p:cNvSpPr/>
          <p:nvPr/>
        </p:nvSpPr>
        <p:spPr>
          <a:xfrm>
            <a:off x="338328" y="2322576"/>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C0392B"/>
                </a:solidFill>
                <a:latin typeface="Calibri" pitchFamily="34" charset="0"/>
                <a:ea typeface="Calibri" pitchFamily="34" charset="-122"/>
                <a:cs typeface="Calibri" pitchFamily="34" charset="-120"/>
              </a:rPr>
              <a:t>✘  Requires internet · Limited native features · Slow load times</a:t>
            </a:r>
            <a:endParaRPr lang="en-US" sz="950" dirty="0"/>
          </a:p>
        </p:txBody>
      </p:sp>
      <p:sp>
        <p:nvSpPr>
          <p:cNvPr id="16" name="Shape 14"/>
          <p:cNvSpPr/>
          <p:nvPr/>
        </p:nvSpPr>
        <p:spPr>
          <a:xfrm>
            <a:off x="3246120" y="1481328"/>
            <a:ext cx="2788920" cy="14173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7" name="Shape 15"/>
          <p:cNvSpPr/>
          <p:nvPr/>
        </p:nvSpPr>
        <p:spPr>
          <a:xfrm>
            <a:off x="3246120" y="1481328"/>
            <a:ext cx="64008" cy="1417320"/>
          </a:xfrm>
          <a:prstGeom prst="rect">
            <a:avLst/>
          </a:prstGeom>
          <a:solidFill>
            <a:srgbClr val="C9A84C"/>
          </a:solidFill>
          <a:ln w="12700">
            <a:solidFill>
              <a:srgbClr val="C9A84C"/>
            </a:solidFill>
            <a:prstDash val="solid"/>
          </a:ln>
        </p:spPr>
      </p:sp>
      <p:sp>
        <p:nvSpPr>
          <p:cNvPr id="18" name="Text 16"/>
          <p:cNvSpPr/>
          <p:nvPr/>
        </p:nvSpPr>
        <p:spPr>
          <a:xfrm>
            <a:off x="3374136" y="1572768"/>
            <a:ext cx="260604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Native Apps</a:t>
            </a:r>
            <a:endParaRPr lang="en-US" sz="1100" dirty="0"/>
          </a:p>
        </p:txBody>
      </p:sp>
      <p:sp>
        <p:nvSpPr>
          <p:cNvPr id="19" name="Shape 17"/>
          <p:cNvSpPr/>
          <p:nvPr/>
        </p:nvSpPr>
        <p:spPr>
          <a:xfrm>
            <a:off x="3374136" y="1865376"/>
            <a:ext cx="2560320" cy="9144"/>
          </a:xfrm>
          <a:prstGeom prst="rect">
            <a:avLst/>
          </a:prstGeom>
          <a:solidFill>
            <a:srgbClr val="E2E8F0"/>
          </a:solidFill>
          <a:ln w="12700">
            <a:solidFill>
              <a:srgbClr val="E2E8F0"/>
            </a:solidFill>
            <a:prstDash val="solid"/>
          </a:ln>
        </p:spPr>
      </p:sp>
      <p:sp>
        <p:nvSpPr>
          <p:cNvPr id="20" name="Text 18"/>
          <p:cNvSpPr/>
          <p:nvPr/>
        </p:nvSpPr>
        <p:spPr>
          <a:xfrm>
            <a:off x="3355848" y="1901952"/>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2D6A4F"/>
                </a:solidFill>
                <a:latin typeface="Calibri" pitchFamily="34" charset="0"/>
                <a:ea typeface="Calibri" pitchFamily="34" charset="-122"/>
                <a:cs typeface="Calibri" pitchFamily="34" charset="-120"/>
              </a:rPr>
              <a:t>✔  Best performance · Full hardware access · Optimal UX</a:t>
            </a:r>
            <a:endParaRPr lang="en-US" sz="950" dirty="0"/>
          </a:p>
        </p:txBody>
      </p:sp>
      <p:sp>
        <p:nvSpPr>
          <p:cNvPr id="21" name="Text 19"/>
          <p:cNvSpPr/>
          <p:nvPr/>
        </p:nvSpPr>
        <p:spPr>
          <a:xfrm>
            <a:off x="3355848" y="2322576"/>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C0392B"/>
                </a:solidFill>
                <a:latin typeface="Calibri" pitchFamily="34" charset="0"/>
                <a:ea typeface="Calibri" pitchFamily="34" charset="-122"/>
                <a:cs typeface="Calibri" pitchFamily="34" charset="-120"/>
              </a:rPr>
              <a:t>✘  Higher cost · Platform-specific codebase (iOS or Android)</a:t>
            </a:r>
            <a:endParaRPr lang="en-US" sz="950" dirty="0"/>
          </a:p>
        </p:txBody>
      </p:sp>
      <p:sp>
        <p:nvSpPr>
          <p:cNvPr id="22" name="Shape 20"/>
          <p:cNvSpPr/>
          <p:nvPr/>
        </p:nvSpPr>
        <p:spPr>
          <a:xfrm>
            <a:off x="6263640" y="1481328"/>
            <a:ext cx="2788920" cy="14173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3" name="Shape 21"/>
          <p:cNvSpPr/>
          <p:nvPr/>
        </p:nvSpPr>
        <p:spPr>
          <a:xfrm>
            <a:off x="6263640" y="1481328"/>
            <a:ext cx="64008" cy="1417320"/>
          </a:xfrm>
          <a:prstGeom prst="rect">
            <a:avLst/>
          </a:prstGeom>
          <a:solidFill>
            <a:srgbClr val="C9A84C"/>
          </a:solidFill>
          <a:ln w="12700">
            <a:solidFill>
              <a:srgbClr val="C9A84C"/>
            </a:solidFill>
            <a:prstDash val="solid"/>
          </a:ln>
        </p:spPr>
      </p:sp>
      <p:sp>
        <p:nvSpPr>
          <p:cNvPr id="24" name="Text 22"/>
          <p:cNvSpPr/>
          <p:nvPr/>
        </p:nvSpPr>
        <p:spPr>
          <a:xfrm>
            <a:off x="6391656" y="1572768"/>
            <a:ext cx="260604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Cross-Platform</a:t>
            </a:r>
            <a:endParaRPr lang="en-US" sz="1100" dirty="0"/>
          </a:p>
        </p:txBody>
      </p:sp>
      <p:sp>
        <p:nvSpPr>
          <p:cNvPr id="25" name="Shape 23"/>
          <p:cNvSpPr/>
          <p:nvPr/>
        </p:nvSpPr>
        <p:spPr>
          <a:xfrm>
            <a:off x="6391656" y="1865376"/>
            <a:ext cx="2560320" cy="9144"/>
          </a:xfrm>
          <a:prstGeom prst="rect">
            <a:avLst/>
          </a:prstGeom>
          <a:solidFill>
            <a:srgbClr val="E2E8F0"/>
          </a:solidFill>
          <a:ln w="12700">
            <a:solidFill>
              <a:srgbClr val="E2E8F0"/>
            </a:solidFill>
            <a:prstDash val="solid"/>
          </a:ln>
        </p:spPr>
      </p:sp>
      <p:sp>
        <p:nvSpPr>
          <p:cNvPr id="26" name="Text 24"/>
          <p:cNvSpPr/>
          <p:nvPr/>
        </p:nvSpPr>
        <p:spPr>
          <a:xfrm>
            <a:off x="6373368" y="1901952"/>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2D6A4F"/>
                </a:solidFill>
                <a:latin typeface="Calibri" pitchFamily="34" charset="0"/>
                <a:ea typeface="Calibri" pitchFamily="34" charset="-122"/>
                <a:cs typeface="Calibri" pitchFamily="34" charset="-120"/>
              </a:rPr>
              <a:t>✔  Single codebase · Faster to market · Cost savings</a:t>
            </a:r>
            <a:endParaRPr lang="en-US" sz="950" dirty="0"/>
          </a:p>
        </p:txBody>
      </p:sp>
      <p:sp>
        <p:nvSpPr>
          <p:cNvPr id="27" name="Text 25"/>
          <p:cNvSpPr/>
          <p:nvPr/>
        </p:nvSpPr>
        <p:spPr>
          <a:xfrm>
            <a:off x="6373368" y="2322576"/>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C0392B"/>
                </a:solidFill>
                <a:latin typeface="Calibri" pitchFamily="34" charset="0"/>
                <a:ea typeface="Calibri" pitchFamily="34" charset="-122"/>
                <a:cs typeface="Calibri" pitchFamily="34" charset="-120"/>
              </a:rPr>
              <a:t>✘  Complex dev lifecycle · Limited native access · Lower performance</a:t>
            </a:r>
            <a:endParaRPr lang="en-US" sz="950" dirty="0"/>
          </a:p>
        </p:txBody>
      </p:sp>
      <p:sp>
        <p:nvSpPr>
          <p:cNvPr id="28" name="Shape 26"/>
          <p:cNvSpPr/>
          <p:nvPr/>
        </p:nvSpPr>
        <p:spPr>
          <a:xfrm>
            <a:off x="1737360" y="3063240"/>
            <a:ext cx="2788920" cy="14173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9" name="Shape 27"/>
          <p:cNvSpPr/>
          <p:nvPr/>
        </p:nvSpPr>
        <p:spPr>
          <a:xfrm>
            <a:off x="1737360" y="3063240"/>
            <a:ext cx="64008" cy="1417320"/>
          </a:xfrm>
          <a:prstGeom prst="rect">
            <a:avLst/>
          </a:prstGeom>
          <a:solidFill>
            <a:srgbClr val="C9A84C"/>
          </a:solidFill>
          <a:ln w="12700">
            <a:solidFill>
              <a:srgbClr val="C9A84C"/>
            </a:solidFill>
            <a:prstDash val="solid"/>
          </a:ln>
        </p:spPr>
      </p:sp>
      <p:sp>
        <p:nvSpPr>
          <p:cNvPr id="30" name="Text 28"/>
          <p:cNvSpPr/>
          <p:nvPr/>
        </p:nvSpPr>
        <p:spPr>
          <a:xfrm>
            <a:off x="1865376" y="3154680"/>
            <a:ext cx="260604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Progressive (PWA)</a:t>
            </a:r>
            <a:endParaRPr lang="en-US" sz="1100" dirty="0"/>
          </a:p>
        </p:txBody>
      </p:sp>
      <p:sp>
        <p:nvSpPr>
          <p:cNvPr id="31" name="Shape 29"/>
          <p:cNvSpPr/>
          <p:nvPr/>
        </p:nvSpPr>
        <p:spPr>
          <a:xfrm>
            <a:off x="1865376" y="3447288"/>
            <a:ext cx="2560320" cy="9144"/>
          </a:xfrm>
          <a:prstGeom prst="rect">
            <a:avLst/>
          </a:prstGeom>
          <a:solidFill>
            <a:srgbClr val="E2E8F0"/>
          </a:solidFill>
          <a:ln w="12700">
            <a:solidFill>
              <a:srgbClr val="E2E8F0"/>
            </a:solidFill>
            <a:prstDash val="solid"/>
          </a:ln>
        </p:spPr>
      </p:sp>
      <p:sp>
        <p:nvSpPr>
          <p:cNvPr id="32" name="Text 30"/>
          <p:cNvSpPr/>
          <p:nvPr/>
        </p:nvSpPr>
        <p:spPr>
          <a:xfrm>
            <a:off x="1847088" y="3483864"/>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2D6A4F"/>
                </a:solidFill>
                <a:latin typeface="Calibri" pitchFamily="34" charset="0"/>
                <a:ea typeface="Calibri" pitchFamily="34" charset="-122"/>
                <a:cs typeface="Calibri" pitchFamily="34" charset="-120"/>
              </a:rPr>
              <a:t>✔  Installable from browser · Universal compatibility · Low cost</a:t>
            </a:r>
            <a:endParaRPr lang="en-US" sz="950" dirty="0"/>
          </a:p>
        </p:txBody>
      </p:sp>
      <p:sp>
        <p:nvSpPr>
          <p:cNvPr id="33" name="Text 31"/>
          <p:cNvSpPr/>
          <p:nvPr/>
        </p:nvSpPr>
        <p:spPr>
          <a:xfrm>
            <a:off x="1847088" y="3904488"/>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C0392B"/>
                </a:solidFill>
                <a:latin typeface="Calibri" pitchFamily="34" charset="0"/>
                <a:ea typeface="Calibri" pitchFamily="34" charset="-122"/>
                <a:cs typeface="Calibri" pitchFamily="34" charset="-120"/>
              </a:rPr>
              <a:t>✘  Limited on Apple devices · Cannot access some hardware features</a:t>
            </a:r>
            <a:endParaRPr lang="en-US" sz="950" dirty="0"/>
          </a:p>
        </p:txBody>
      </p:sp>
      <p:sp>
        <p:nvSpPr>
          <p:cNvPr id="34" name="Shape 32"/>
          <p:cNvSpPr/>
          <p:nvPr/>
        </p:nvSpPr>
        <p:spPr>
          <a:xfrm>
            <a:off x="4754880" y="3063240"/>
            <a:ext cx="2788920" cy="14173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35" name="Shape 33"/>
          <p:cNvSpPr/>
          <p:nvPr/>
        </p:nvSpPr>
        <p:spPr>
          <a:xfrm>
            <a:off x="4754880" y="3063240"/>
            <a:ext cx="64008" cy="1417320"/>
          </a:xfrm>
          <a:prstGeom prst="rect">
            <a:avLst/>
          </a:prstGeom>
          <a:solidFill>
            <a:srgbClr val="C9A84C"/>
          </a:solidFill>
          <a:ln w="12700">
            <a:solidFill>
              <a:srgbClr val="C9A84C"/>
            </a:solidFill>
            <a:prstDash val="solid"/>
          </a:ln>
        </p:spPr>
      </p:sp>
      <p:sp>
        <p:nvSpPr>
          <p:cNvPr id="36" name="Text 34"/>
          <p:cNvSpPr/>
          <p:nvPr/>
        </p:nvSpPr>
        <p:spPr>
          <a:xfrm>
            <a:off x="4882896" y="3154680"/>
            <a:ext cx="260604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Hybrid Apps</a:t>
            </a:r>
            <a:endParaRPr lang="en-US" sz="1100" dirty="0"/>
          </a:p>
        </p:txBody>
      </p:sp>
      <p:sp>
        <p:nvSpPr>
          <p:cNvPr id="37" name="Shape 35"/>
          <p:cNvSpPr/>
          <p:nvPr/>
        </p:nvSpPr>
        <p:spPr>
          <a:xfrm>
            <a:off x="4882896" y="3447288"/>
            <a:ext cx="2560320" cy="9144"/>
          </a:xfrm>
          <a:prstGeom prst="rect">
            <a:avLst/>
          </a:prstGeom>
          <a:solidFill>
            <a:srgbClr val="E2E8F0"/>
          </a:solidFill>
          <a:ln w="12700">
            <a:solidFill>
              <a:srgbClr val="E2E8F0"/>
            </a:solidFill>
            <a:prstDash val="solid"/>
          </a:ln>
        </p:spPr>
      </p:sp>
      <p:sp>
        <p:nvSpPr>
          <p:cNvPr id="38" name="Text 36"/>
          <p:cNvSpPr/>
          <p:nvPr/>
        </p:nvSpPr>
        <p:spPr>
          <a:xfrm>
            <a:off x="4864608" y="3483864"/>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2D6A4F"/>
                </a:solidFill>
                <a:latin typeface="Calibri" pitchFamily="34" charset="0"/>
                <a:ea typeface="Calibri" pitchFamily="34" charset="-122"/>
                <a:cs typeface="Calibri" pitchFamily="34" charset="-120"/>
              </a:rPr>
              <a:t>✔  Rapid deployment · Web talent can build it · Easy maintenance</a:t>
            </a:r>
            <a:endParaRPr lang="en-US" sz="950" dirty="0"/>
          </a:p>
        </p:txBody>
      </p:sp>
      <p:sp>
        <p:nvSpPr>
          <p:cNvPr id="39" name="Text 37"/>
          <p:cNvSpPr/>
          <p:nvPr/>
        </p:nvSpPr>
        <p:spPr>
          <a:xfrm>
            <a:off x="4864608" y="3904488"/>
            <a:ext cx="2624328" cy="420624"/>
          </a:xfrm>
          <a:prstGeom prst="rect">
            <a:avLst/>
          </a:prstGeom>
          <a:noFill/>
          <a:ln/>
        </p:spPr>
        <p:txBody>
          <a:bodyPr wrap="square" lIns="0" tIns="0" rIns="0" bIns="0" rtlCol="0" anchor="ctr"/>
          <a:lstStyle/>
          <a:p>
            <a:pPr marL="0" indent="0">
              <a:lnSpc>
                <a:spcPct val="120000"/>
              </a:lnSpc>
              <a:buNone/>
            </a:pPr>
            <a:r>
              <a:rPr lang="en-US" sz="950" dirty="0">
                <a:solidFill>
                  <a:srgbClr val="C0392B"/>
                </a:solidFill>
                <a:latin typeface="Calibri" pitchFamily="34" charset="0"/>
                <a:ea typeface="Calibri" pitchFamily="34" charset="-122"/>
                <a:cs typeface="Calibri" pitchFamily="34" charset="-120"/>
              </a:rPr>
              <a:t>✘  Slower than native · Lower performance · Approaching obsolescence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02</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Mobile App Programming Languages</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24128"/>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Language choice determines performance, platform reach, and long-term maintainability.</a:t>
            </a:r>
            <a:endParaRPr lang="en-US" sz="1200" dirty="0"/>
          </a:p>
        </p:txBody>
      </p:sp>
      <p:sp>
        <p:nvSpPr>
          <p:cNvPr id="10" name="Shape 8"/>
          <p:cNvSpPr/>
          <p:nvPr/>
        </p:nvSpPr>
        <p:spPr>
          <a:xfrm>
            <a:off x="320040" y="1417320"/>
            <a:ext cx="4160520" cy="347472"/>
          </a:xfrm>
          <a:prstGeom prst="rect">
            <a:avLst/>
          </a:prstGeom>
          <a:solidFill>
            <a:srgbClr val="1A2B4A"/>
          </a:solidFill>
          <a:ln w="12700">
            <a:solidFill>
              <a:srgbClr val="1A2B4A"/>
            </a:solidFill>
            <a:prstDash val="solid"/>
          </a:ln>
        </p:spPr>
      </p:sp>
      <p:sp>
        <p:nvSpPr>
          <p:cNvPr id="11" name="Text 9"/>
          <p:cNvSpPr/>
          <p:nvPr/>
        </p:nvSpPr>
        <p:spPr>
          <a:xfrm>
            <a:off x="411480" y="1417320"/>
            <a:ext cx="397764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Native Languages</a:t>
            </a:r>
            <a:endParaRPr lang="en-US" sz="1300" dirty="0"/>
          </a:p>
        </p:txBody>
      </p:sp>
      <p:sp>
        <p:nvSpPr>
          <p:cNvPr id="12" name="Shape 10"/>
          <p:cNvSpPr/>
          <p:nvPr/>
        </p:nvSpPr>
        <p:spPr>
          <a:xfrm>
            <a:off x="4709160" y="1417320"/>
            <a:ext cx="4160520" cy="347472"/>
          </a:xfrm>
          <a:prstGeom prst="rect">
            <a:avLst/>
          </a:prstGeom>
          <a:solidFill>
            <a:srgbClr val="1A2B4A"/>
          </a:solidFill>
          <a:ln w="12700">
            <a:solidFill>
              <a:srgbClr val="1A2B4A"/>
            </a:solidFill>
            <a:prstDash val="solid"/>
          </a:ln>
        </p:spPr>
      </p:sp>
      <p:sp>
        <p:nvSpPr>
          <p:cNvPr id="13" name="Text 11"/>
          <p:cNvSpPr/>
          <p:nvPr/>
        </p:nvSpPr>
        <p:spPr>
          <a:xfrm>
            <a:off x="4800600" y="1417320"/>
            <a:ext cx="397764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Cross-Platform Languages</a:t>
            </a:r>
            <a:endParaRPr lang="en-US" sz="1300" dirty="0"/>
          </a:p>
        </p:txBody>
      </p:sp>
      <p:sp>
        <p:nvSpPr>
          <p:cNvPr id="14" name="Shape 12"/>
          <p:cNvSpPr/>
          <p:nvPr/>
        </p:nvSpPr>
        <p:spPr>
          <a:xfrm>
            <a:off x="320040" y="1828800"/>
            <a:ext cx="4160520" cy="566928"/>
          </a:xfrm>
          <a:prstGeom prst="rect">
            <a:avLst/>
          </a:prstGeom>
          <a:solidFill>
            <a:srgbClr val="FFFFFF"/>
          </a:solidFill>
          <a:ln w="12700">
            <a:solidFill>
              <a:srgbClr val="E2E8F0"/>
            </a:solidFill>
            <a:prstDash val="solid"/>
          </a:ln>
        </p:spPr>
      </p:sp>
      <p:sp>
        <p:nvSpPr>
          <p:cNvPr id="15" name="Shape 13"/>
          <p:cNvSpPr/>
          <p:nvPr/>
        </p:nvSpPr>
        <p:spPr>
          <a:xfrm>
            <a:off x="320040" y="1828800"/>
            <a:ext cx="54864" cy="566928"/>
          </a:xfrm>
          <a:prstGeom prst="rect">
            <a:avLst/>
          </a:prstGeom>
          <a:solidFill>
            <a:srgbClr val="C9A84C"/>
          </a:solidFill>
          <a:ln w="12700">
            <a:solidFill>
              <a:srgbClr val="C9A84C"/>
            </a:solidFill>
            <a:prstDash val="solid"/>
          </a:ln>
        </p:spPr>
      </p:sp>
      <p:sp>
        <p:nvSpPr>
          <p:cNvPr id="16" name="Text 14"/>
          <p:cNvSpPr/>
          <p:nvPr/>
        </p:nvSpPr>
        <p:spPr>
          <a:xfrm>
            <a:off x="448056" y="1874520"/>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Swift</a:t>
            </a:r>
            <a:endParaRPr lang="en-US" sz="1200" dirty="0"/>
          </a:p>
        </p:txBody>
      </p:sp>
      <p:sp>
        <p:nvSpPr>
          <p:cNvPr id="17" name="Text 15"/>
          <p:cNvSpPr/>
          <p:nvPr/>
        </p:nvSpPr>
        <p:spPr>
          <a:xfrm>
            <a:off x="448056" y="2121408"/>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iOS</a:t>
            </a:r>
            <a:endParaRPr lang="en-US" sz="950" dirty="0"/>
          </a:p>
        </p:txBody>
      </p:sp>
      <p:sp>
        <p:nvSpPr>
          <p:cNvPr id="18" name="Text 16"/>
          <p:cNvSpPr/>
          <p:nvPr/>
        </p:nvSpPr>
        <p:spPr>
          <a:xfrm>
            <a:off x="1737360" y="1874520"/>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Modern, fast, safe syntax</a:t>
            </a:r>
            <a:endParaRPr lang="en-US" sz="950" dirty="0"/>
          </a:p>
        </p:txBody>
      </p:sp>
      <p:sp>
        <p:nvSpPr>
          <p:cNvPr id="19" name="Text 17"/>
          <p:cNvSpPr/>
          <p:nvPr/>
        </p:nvSpPr>
        <p:spPr>
          <a:xfrm>
            <a:off x="1737360" y="2121408"/>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Apple ecosystem only</a:t>
            </a:r>
            <a:endParaRPr lang="en-US" sz="950" dirty="0"/>
          </a:p>
        </p:txBody>
      </p:sp>
      <p:sp>
        <p:nvSpPr>
          <p:cNvPr id="20" name="Shape 18"/>
          <p:cNvSpPr/>
          <p:nvPr/>
        </p:nvSpPr>
        <p:spPr>
          <a:xfrm>
            <a:off x="320040" y="2441448"/>
            <a:ext cx="4160520" cy="566928"/>
          </a:xfrm>
          <a:prstGeom prst="rect">
            <a:avLst/>
          </a:prstGeom>
          <a:solidFill>
            <a:srgbClr val="FFFFFF"/>
          </a:solidFill>
          <a:ln w="12700">
            <a:solidFill>
              <a:srgbClr val="E2E8F0"/>
            </a:solidFill>
            <a:prstDash val="solid"/>
          </a:ln>
        </p:spPr>
      </p:sp>
      <p:sp>
        <p:nvSpPr>
          <p:cNvPr id="21" name="Shape 19"/>
          <p:cNvSpPr/>
          <p:nvPr/>
        </p:nvSpPr>
        <p:spPr>
          <a:xfrm>
            <a:off x="320040" y="2441448"/>
            <a:ext cx="54864" cy="566928"/>
          </a:xfrm>
          <a:prstGeom prst="rect">
            <a:avLst/>
          </a:prstGeom>
          <a:solidFill>
            <a:srgbClr val="C9A84C"/>
          </a:solidFill>
          <a:ln w="12700">
            <a:solidFill>
              <a:srgbClr val="C9A84C"/>
            </a:solidFill>
            <a:prstDash val="solid"/>
          </a:ln>
        </p:spPr>
      </p:sp>
      <p:sp>
        <p:nvSpPr>
          <p:cNvPr id="22" name="Text 20"/>
          <p:cNvSpPr/>
          <p:nvPr/>
        </p:nvSpPr>
        <p:spPr>
          <a:xfrm>
            <a:off x="448056" y="2487168"/>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Kotlin</a:t>
            </a:r>
            <a:endParaRPr lang="en-US" sz="1200" dirty="0"/>
          </a:p>
        </p:txBody>
      </p:sp>
      <p:sp>
        <p:nvSpPr>
          <p:cNvPr id="23" name="Text 21"/>
          <p:cNvSpPr/>
          <p:nvPr/>
        </p:nvSpPr>
        <p:spPr>
          <a:xfrm>
            <a:off x="448056" y="2734056"/>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Android</a:t>
            </a:r>
            <a:endParaRPr lang="en-US" sz="950" dirty="0"/>
          </a:p>
        </p:txBody>
      </p:sp>
      <p:sp>
        <p:nvSpPr>
          <p:cNvPr id="24" name="Text 22"/>
          <p:cNvSpPr/>
          <p:nvPr/>
        </p:nvSpPr>
        <p:spPr>
          <a:xfrm>
            <a:off x="1737360" y="2487168"/>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Concise, safe, interoperable</a:t>
            </a:r>
            <a:endParaRPr lang="en-US" sz="950" dirty="0"/>
          </a:p>
        </p:txBody>
      </p:sp>
      <p:sp>
        <p:nvSpPr>
          <p:cNvPr id="25" name="Text 23"/>
          <p:cNvSpPr/>
          <p:nvPr/>
        </p:nvSpPr>
        <p:spPr>
          <a:xfrm>
            <a:off x="1737360" y="2734056"/>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Fewer legacy resources than Java</a:t>
            </a:r>
            <a:endParaRPr lang="en-US" sz="950" dirty="0"/>
          </a:p>
        </p:txBody>
      </p:sp>
      <p:sp>
        <p:nvSpPr>
          <p:cNvPr id="26" name="Shape 24"/>
          <p:cNvSpPr/>
          <p:nvPr/>
        </p:nvSpPr>
        <p:spPr>
          <a:xfrm>
            <a:off x="320040" y="3054096"/>
            <a:ext cx="4160520" cy="566928"/>
          </a:xfrm>
          <a:prstGeom prst="rect">
            <a:avLst/>
          </a:prstGeom>
          <a:solidFill>
            <a:srgbClr val="FFFFFF"/>
          </a:solidFill>
          <a:ln w="12700">
            <a:solidFill>
              <a:srgbClr val="E2E8F0"/>
            </a:solidFill>
            <a:prstDash val="solid"/>
          </a:ln>
        </p:spPr>
      </p:sp>
      <p:sp>
        <p:nvSpPr>
          <p:cNvPr id="27" name="Shape 25"/>
          <p:cNvSpPr/>
          <p:nvPr/>
        </p:nvSpPr>
        <p:spPr>
          <a:xfrm>
            <a:off x="320040" y="3054096"/>
            <a:ext cx="54864" cy="566928"/>
          </a:xfrm>
          <a:prstGeom prst="rect">
            <a:avLst/>
          </a:prstGeom>
          <a:solidFill>
            <a:srgbClr val="C9A84C"/>
          </a:solidFill>
          <a:ln w="12700">
            <a:solidFill>
              <a:srgbClr val="C9A84C"/>
            </a:solidFill>
            <a:prstDash val="solid"/>
          </a:ln>
        </p:spPr>
      </p:sp>
      <p:sp>
        <p:nvSpPr>
          <p:cNvPr id="28" name="Text 26"/>
          <p:cNvSpPr/>
          <p:nvPr/>
        </p:nvSpPr>
        <p:spPr>
          <a:xfrm>
            <a:off x="448056" y="3099816"/>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Java</a:t>
            </a:r>
            <a:endParaRPr lang="en-US" sz="1200" dirty="0"/>
          </a:p>
        </p:txBody>
      </p:sp>
      <p:sp>
        <p:nvSpPr>
          <p:cNvPr id="29" name="Text 27"/>
          <p:cNvSpPr/>
          <p:nvPr/>
        </p:nvSpPr>
        <p:spPr>
          <a:xfrm>
            <a:off x="448056" y="3346704"/>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Android</a:t>
            </a:r>
            <a:endParaRPr lang="en-US" sz="950" dirty="0"/>
          </a:p>
        </p:txBody>
      </p:sp>
      <p:sp>
        <p:nvSpPr>
          <p:cNvPr id="30" name="Text 28"/>
          <p:cNvSpPr/>
          <p:nvPr/>
        </p:nvSpPr>
        <p:spPr>
          <a:xfrm>
            <a:off x="1737360" y="3099816"/>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Massive library support, mature</a:t>
            </a:r>
            <a:endParaRPr lang="en-US" sz="950" dirty="0"/>
          </a:p>
        </p:txBody>
      </p:sp>
      <p:sp>
        <p:nvSpPr>
          <p:cNvPr id="31" name="Text 29"/>
          <p:cNvSpPr/>
          <p:nvPr/>
        </p:nvSpPr>
        <p:spPr>
          <a:xfrm>
            <a:off x="1737360" y="3346704"/>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Verbose; slower than Kotlin</a:t>
            </a:r>
            <a:endParaRPr lang="en-US" sz="950" dirty="0"/>
          </a:p>
        </p:txBody>
      </p:sp>
      <p:sp>
        <p:nvSpPr>
          <p:cNvPr id="32" name="Shape 30"/>
          <p:cNvSpPr/>
          <p:nvPr/>
        </p:nvSpPr>
        <p:spPr>
          <a:xfrm>
            <a:off x="320040" y="3666744"/>
            <a:ext cx="4160520" cy="566928"/>
          </a:xfrm>
          <a:prstGeom prst="rect">
            <a:avLst/>
          </a:prstGeom>
          <a:solidFill>
            <a:srgbClr val="FFFFFF"/>
          </a:solidFill>
          <a:ln w="12700">
            <a:solidFill>
              <a:srgbClr val="E2E8F0"/>
            </a:solidFill>
            <a:prstDash val="solid"/>
          </a:ln>
        </p:spPr>
      </p:sp>
      <p:sp>
        <p:nvSpPr>
          <p:cNvPr id="33" name="Shape 31"/>
          <p:cNvSpPr/>
          <p:nvPr/>
        </p:nvSpPr>
        <p:spPr>
          <a:xfrm>
            <a:off x="320040" y="3666744"/>
            <a:ext cx="54864" cy="566928"/>
          </a:xfrm>
          <a:prstGeom prst="rect">
            <a:avLst/>
          </a:prstGeom>
          <a:solidFill>
            <a:srgbClr val="C9A84C"/>
          </a:solidFill>
          <a:ln w="12700">
            <a:solidFill>
              <a:srgbClr val="C9A84C"/>
            </a:solidFill>
            <a:prstDash val="solid"/>
          </a:ln>
        </p:spPr>
      </p:sp>
      <p:sp>
        <p:nvSpPr>
          <p:cNvPr id="34" name="Text 32"/>
          <p:cNvSpPr/>
          <p:nvPr/>
        </p:nvSpPr>
        <p:spPr>
          <a:xfrm>
            <a:off x="448056" y="3712464"/>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Objective-C</a:t>
            </a:r>
            <a:endParaRPr lang="en-US" sz="1200" dirty="0"/>
          </a:p>
        </p:txBody>
      </p:sp>
      <p:sp>
        <p:nvSpPr>
          <p:cNvPr id="35" name="Text 33"/>
          <p:cNvSpPr/>
          <p:nvPr/>
        </p:nvSpPr>
        <p:spPr>
          <a:xfrm>
            <a:off x="448056" y="3959352"/>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iOS</a:t>
            </a:r>
            <a:endParaRPr lang="en-US" sz="950" dirty="0"/>
          </a:p>
        </p:txBody>
      </p:sp>
      <p:sp>
        <p:nvSpPr>
          <p:cNvPr id="36" name="Text 34"/>
          <p:cNvSpPr/>
          <p:nvPr/>
        </p:nvSpPr>
        <p:spPr>
          <a:xfrm>
            <a:off x="1737360" y="3712464"/>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Mature, reliable for legacy code</a:t>
            </a:r>
            <a:endParaRPr lang="en-US" sz="950" dirty="0"/>
          </a:p>
        </p:txBody>
      </p:sp>
      <p:sp>
        <p:nvSpPr>
          <p:cNvPr id="37" name="Text 35"/>
          <p:cNvSpPr/>
          <p:nvPr/>
        </p:nvSpPr>
        <p:spPr>
          <a:xfrm>
            <a:off x="1737360" y="3959352"/>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Harder to learn; replaced by Swift</a:t>
            </a:r>
            <a:endParaRPr lang="en-US" sz="950" dirty="0"/>
          </a:p>
        </p:txBody>
      </p:sp>
      <p:sp>
        <p:nvSpPr>
          <p:cNvPr id="38" name="Shape 36"/>
          <p:cNvSpPr/>
          <p:nvPr/>
        </p:nvSpPr>
        <p:spPr>
          <a:xfrm>
            <a:off x="4709160" y="1828800"/>
            <a:ext cx="4160520" cy="566928"/>
          </a:xfrm>
          <a:prstGeom prst="rect">
            <a:avLst/>
          </a:prstGeom>
          <a:solidFill>
            <a:srgbClr val="FFFFFF"/>
          </a:solidFill>
          <a:ln w="12700">
            <a:solidFill>
              <a:srgbClr val="E2E8F0"/>
            </a:solidFill>
            <a:prstDash val="solid"/>
          </a:ln>
        </p:spPr>
      </p:sp>
      <p:sp>
        <p:nvSpPr>
          <p:cNvPr id="39" name="Shape 37"/>
          <p:cNvSpPr/>
          <p:nvPr/>
        </p:nvSpPr>
        <p:spPr>
          <a:xfrm>
            <a:off x="4709160" y="1828800"/>
            <a:ext cx="54864" cy="566928"/>
          </a:xfrm>
          <a:prstGeom prst="rect">
            <a:avLst/>
          </a:prstGeom>
          <a:solidFill>
            <a:srgbClr val="C9A84C"/>
          </a:solidFill>
          <a:ln w="12700">
            <a:solidFill>
              <a:srgbClr val="C9A84C"/>
            </a:solidFill>
            <a:prstDash val="solid"/>
          </a:ln>
        </p:spPr>
      </p:sp>
      <p:sp>
        <p:nvSpPr>
          <p:cNvPr id="40" name="Text 38"/>
          <p:cNvSpPr/>
          <p:nvPr/>
        </p:nvSpPr>
        <p:spPr>
          <a:xfrm>
            <a:off x="4837176" y="1874520"/>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JavaScript</a:t>
            </a:r>
            <a:endParaRPr lang="en-US" sz="1200" dirty="0"/>
          </a:p>
        </p:txBody>
      </p:sp>
      <p:sp>
        <p:nvSpPr>
          <p:cNvPr id="41" name="Text 39"/>
          <p:cNvSpPr/>
          <p:nvPr/>
        </p:nvSpPr>
        <p:spPr>
          <a:xfrm>
            <a:off x="4837176" y="2121408"/>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React Native</a:t>
            </a:r>
            <a:endParaRPr lang="en-US" sz="950" dirty="0"/>
          </a:p>
        </p:txBody>
      </p:sp>
      <p:sp>
        <p:nvSpPr>
          <p:cNvPr id="42" name="Text 40"/>
          <p:cNvSpPr/>
          <p:nvPr/>
        </p:nvSpPr>
        <p:spPr>
          <a:xfrm>
            <a:off x="6126480" y="1874520"/>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Reusable code, strong community</a:t>
            </a:r>
            <a:endParaRPr lang="en-US" sz="950" dirty="0"/>
          </a:p>
        </p:txBody>
      </p:sp>
      <p:sp>
        <p:nvSpPr>
          <p:cNvPr id="43" name="Text 41"/>
          <p:cNvSpPr/>
          <p:nvPr/>
        </p:nvSpPr>
        <p:spPr>
          <a:xfrm>
            <a:off x="6126480" y="2121408"/>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State management tricky across platforms</a:t>
            </a:r>
            <a:endParaRPr lang="en-US" sz="950" dirty="0"/>
          </a:p>
        </p:txBody>
      </p:sp>
      <p:sp>
        <p:nvSpPr>
          <p:cNvPr id="44" name="Shape 42"/>
          <p:cNvSpPr/>
          <p:nvPr/>
        </p:nvSpPr>
        <p:spPr>
          <a:xfrm>
            <a:off x="4709160" y="2441448"/>
            <a:ext cx="4160520" cy="566928"/>
          </a:xfrm>
          <a:prstGeom prst="rect">
            <a:avLst/>
          </a:prstGeom>
          <a:solidFill>
            <a:srgbClr val="FFFFFF"/>
          </a:solidFill>
          <a:ln w="12700">
            <a:solidFill>
              <a:srgbClr val="E2E8F0"/>
            </a:solidFill>
            <a:prstDash val="solid"/>
          </a:ln>
        </p:spPr>
      </p:sp>
      <p:sp>
        <p:nvSpPr>
          <p:cNvPr id="45" name="Shape 43"/>
          <p:cNvSpPr/>
          <p:nvPr/>
        </p:nvSpPr>
        <p:spPr>
          <a:xfrm>
            <a:off x="4709160" y="2441448"/>
            <a:ext cx="54864" cy="566928"/>
          </a:xfrm>
          <a:prstGeom prst="rect">
            <a:avLst/>
          </a:prstGeom>
          <a:solidFill>
            <a:srgbClr val="C9A84C"/>
          </a:solidFill>
          <a:ln w="12700">
            <a:solidFill>
              <a:srgbClr val="C9A84C"/>
            </a:solidFill>
            <a:prstDash val="solid"/>
          </a:ln>
        </p:spPr>
      </p:sp>
      <p:sp>
        <p:nvSpPr>
          <p:cNvPr id="46" name="Text 44"/>
          <p:cNvSpPr/>
          <p:nvPr/>
        </p:nvSpPr>
        <p:spPr>
          <a:xfrm>
            <a:off x="4837176" y="2487168"/>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Dart</a:t>
            </a:r>
            <a:endParaRPr lang="en-US" sz="1200" dirty="0"/>
          </a:p>
        </p:txBody>
      </p:sp>
      <p:sp>
        <p:nvSpPr>
          <p:cNvPr id="47" name="Text 45"/>
          <p:cNvSpPr/>
          <p:nvPr/>
        </p:nvSpPr>
        <p:spPr>
          <a:xfrm>
            <a:off x="4837176" y="2734056"/>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Flutter</a:t>
            </a:r>
            <a:endParaRPr lang="en-US" sz="950" dirty="0"/>
          </a:p>
        </p:txBody>
      </p:sp>
      <p:sp>
        <p:nvSpPr>
          <p:cNvPr id="48" name="Text 46"/>
          <p:cNvSpPr/>
          <p:nvPr/>
        </p:nvSpPr>
        <p:spPr>
          <a:xfrm>
            <a:off x="6126480" y="2487168"/>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Fast execution, expressive UI</a:t>
            </a:r>
            <a:endParaRPr lang="en-US" sz="950" dirty="0"/>
          </a:p>
        </p:txBody>
      </p:sp>
      <p:sp>
        <p:nvSpPr>
          <p:cNvPr id="49" name="Text 47"/>
          <p:cNvSpPr/>
          <p:nvPr/>
        </p:nvSpPr>
        <p:spPr>
          <a:xfrm>
            <a:off x="6126480" y="2734056"/>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Depends entirely on Flutter ecosystem</a:t>
            </a:r>
            <a:endParaRPr lang="en-US" sz="950" dirty="0"/>
          </a:p>
        </p:txBody>
      </p:sp>
      <p:sp>
        <p:nvSpPr>
          <p:cNvPr id="50" name="Shape 48"/>
          <p:cNvSpPr/>
          <p:nvPr/>
        </p:nvSpPr>
        <p:spPr>
          <a:xfrm>
            <a:off x="4709160" y="3054096"/>
            <a:ext cx="4160520" cy="566928"/>
          </a:xfrm>
          <a:prstGeom prst="rect">
            <a:avLst/>
          </a:prstGeom>
          <a:solidFill>
            <a:srgbClr val="FFFFFF"/>
          </a:solidFill>
          <a:ln w="12700">
            <a:solidFill>
              <a:srgbClr val="E2E8F0"/>
            </a:solidFill>
            <a:prstDash val="solid"/>
          </a:ln>
        </p:spPr>
      </p:sp>
      <p:sp>
        <p:nvSpPr>
          <p:cNvPr id="51" name="Shape 49"/>
          <p:cNvSpPr/>
          <p:nvPr/>
        </p:nvSpPr>
        <p:spPr>
          <a:xfrm>
            <a:off x="4709160" y="3054096"/>
            <a:ext cx="54864" cy="566928"/>
          </a:xfrm>
          <a:prstGeom prst="rect">
            <a:avLst/>
          </a:prstGeom>
          <a:solidFill>
            <a:srgbClr val="C9A84C"/>
          </a:solidFill>
          <a:ln w="12700">
            <a:solidFill>
              <a:srgbClr val="C9A84C"/>
            </a:solidFill>
            <a:prstDash val="solid"/>
          </a:ln>
        </p:spPr>
      </p:sp>
      <p:sp>
        <p:nvSpPr>
          <p:cNvPr id="52" name="Text 50"/>
          <p:cNvSpPr/>
          <p:nvPr/>
        </p:nvSpPr>
        <p:spPr>
          <a:xfrm>
            <a:off x="4837176" y="3099816"/>
            <a:ext cx="1280160" cy="237744"/>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C#</a:t>
            </a:r>
            <a:endParaRPr lang="en-US" sz="1200" dirty="0"/>
          </a:p>
        </p:txBody>
      </p:sp>
      <p:sp>
        <p:nvSpPr>
          <p:cNvPr id="53" name="Text 51"/>
          <p:cNvSpPr/>
          <p:nvPr/>
        </p:nvSpPr>
        <p:spPr>
          <a:xfrm>
            <a:off x="4837176" y="3346704"/>
            <a:ext cx="1280160" cy="201168"/>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Xamarin</a:t>
            </a:r>
            <a:endParaRPr lang="en-US" sz="950" dirty="0"/>
          </a:p>
        </p:txBody>
      </p:sp>
      <p:sp>
        <p:nvSpPr>
          <p:cNvPr id="54" name="Text 52"/>
          <p:cNvSpPr/>
          <p:nvPr/>
        </p:nvSpPr>
        <p:spPr>
          <a:xfrm>
            <a:off x="6126480" y="3099816"/>
            <a:ext cx="2560320" cy="237744"/>
          </a:xfrm>
          <a:prstGeom prst="rect">
            <a:avLst/>
          </a:prstGeom>
          <a:noFill/>
          <a:ln/>
        </p:spPr>
        <p:txBody>
          <a:bodyPr wrap="square" lIns="0" tIns="0" rIns="0" bIns="0" rtlCol="0" anchor="ctr"/>
          <a:lstStyle/>
          <a:p>
            <a:pPr marL="0" indent="0">
              <a:buNone/>
            </a:pPr>
            <a:r>
              <a:rPr lang="en-US" sz="950" dirty="0">
                <a:solidFill>
                  <a:srgbClr val="2D6A4F"/>
                </a:solidFill>
                <a:latin typeface="Calibri" pitchFamily="34" charset="0"/>
                <a:ea typeface="Calibri" pitchFamily="34" charset="-122"/>
                <a:cs typeface="Calibri" pitchFamily="34" charset="-120"/>
              </a:rPr>
              <a:t>✔ Native perf, Microsoft support</a:t>
            </a:r>
            <a:endParaRPr lang="en-US" sz="950" dirty="0"/>
          </a:p>
        </p:txBody>
      </p:sp>
      <p:sp>
        <p:nvSpPr>
          <p:cNvPr id="55" name="Text 53"/>
          <p:cNvSpPr/>
          <p:nvPr/>
        </p:nvSpPr>
        <p:spPr>
          <a:xfrm>
            <a:off x="6126480" y="3346704"/>
            <a:ext cx="2560320" cy="237744"/>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Depends on Xamarin framework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03</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Development Frameworks Compared</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Choosing the right framework is a strategic decision — it impacts speed, cost, and user experience.</a:t>
            </a:r>
            <a:endParaRPr lang="en-US" sz="1200" dirty="0"/>
          </a:p>
        </p:txBody>
      </p:sp>
      <p:sp>
        <p:nvSpPr>
          <p:cNvPr id="10" name="Shape 8"/>
          <p:cNvSpPr/>
          <p:nvPr/>
        </p:nvSpPr>
        <p:spPr>
          <a:xfrm>
            <a:off x="320040" y="1417320"/>
            <a:ext cx="1371600" cy="347472"/>
          </a:xfrm>
          <a:prstGeom prst="rect">
            <a:avLst/>
          </a:prstGeom>
          <a:solidFill>
            <a:srgbClr val="1A2B4A"/>
          </a:solidFill>
          <a:ln w="12700">
            <a:solidFill>
              <a:srgbClr val="1A2B4A"/>
            </a:solidFill>
            <a:prstDash val="solid"/>
          </a:ln>
        </p:spPr>
      </p:sp>
      <p:sp>
        <p:nvSpPr>
          <p:cNvPr id="11" name="Text 9"/>
          <p:cNvSpPr/>
          <p:nvPr/>
        </p:nvSpPr>
        <p:spPr>
          <a:xfrm>
            <a:off x="374904" y="1417320"/>
            <a:ext cx="129844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Framework</a:t>
            </a:r>
            <a:endParaRPr lang="en-US" sz="1000" dirty="0"/>
          </a:p>
        </p:txBody>
      </p:sp>
      <p:sp>
        <p:nvSpPr>
          <p:cNvPr id="12" name="Shape 10"/>
          <p:cNvSpPr/>
          <p:nvPr/>
        </p:nvSpPr>
        <p:spPr>
          <a:xfrm>
            <a:off x="1691640" y="1417320"/>
            <a:ext cx="1188720" cy="347472"/>
          </a:xfrm>
          <a:prstGeom prst="rect">
            <a:avLst/>
          </a:prstGeom>
          <a:solidFill>
            <a:srgbClr val="1A2B4A"/>
          </a:solidFill>
          <a:ln w="12700">
            <a:solidFill>
              <a:srgbClr val="1A2B4A"/>
            </a:solidFill>
            <a:prstDash val="solid"/>
          </a:ln>
        </p:spPr>
      </p:sp>
      <p:sp>
        <p:nvSpPr>
          <p:cNvPr id="13" name="Text 11"/>
          <p:cNvSpPr/>
          <p:nvPr/>
        </p:nvSpPr>
        <p:spPr>
          <a:xfrm>
            <a:off x="1746504" y="1417320"/>
            <a:ext cx="111556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Language</a:t>
            </a:r>
            <a:endParaRPr lang="en-US" sz="1000" dirty="0"/>
          </a:p>
        </p:txBody>
      </p:sp>
      <p:sp>
        <p:nvSpPr>
          <p:cNvPr id="14" name="Shape 12"/>
          <p:cNvSpPr/>
          <p:nvPr/>
        </p:nvSpPr>
        <p:spPr>
          <a:xfrm>
            <a:off x="2880360" y="1417320"/>
            <a:ext cx="1188720" cy="347472"/>
          </a:xfrm>
          <a:prstGeom prst="rect">
            <a:avLst/>
          </a:prstGeom>
          <a:solidFill>
            <a:srgbClr val="1A2B4A"/>
          </a:solidFill>
          <a:ln w="12700">
            <a:solidFill>
              <a:srgbClr val="1A2B4A"/>
            </a:solidFill>
            <a:prstDash val="solid"/>
          </a:ln>
        </p:spPr>
      </p:sp>
      <p:sp>
        <p:nvSpPr>
          <p:cNvPr id="15" name="Text 13"/>
          <p:cNvSpPr/>
          <p:nvPr/>
        </p:nvSpPr>
        <p:spPr>
          <a:xfrm>
            <a:off x="2935224" y="1417320"/>
            <a:ext cx="111556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Performance</a:t>
            </a:r>
            <a:endParaRPr lang="en-US" sz="1000" dirty="0"/>
          </a:p>
        </p:txBody>
      </p:sp>
      <p:sp>
        <p:nvSpPr>
          <p:cNvPr id="16" name="Shape 14"/>
          <p:cNvSpPr/>
          <p:nvPr/>
        </p:nvSpPr>
        <p:spPr>
          <a:xfrm>
            <a:off x="4069080" y="1417320"/>
            <a:ext cx="914400" cy="347472"/>
          </a:xfrm>
          <a:prstGeom prst="rect">
            <a:avLst/>
          </a:prstGeom>
          <a:solidFill>
            <a:srgbClr val="1A2B4A"/>
          </a:solidFill>
          <a:ln w="12700">
            <a:solidFill>
              <a:srgbClr val="1A2B4A"/>
            </a:solidFill>
            <a:prstDash val="solid"/>
          </a:ln>
        </p:spPr>
      </p:sp>
      <p:sp>
        <p:nvSpPr>
          <p:cNvPr id="17" name="Text 15"/>
          <p:cNvSpPr/>
          <p:nvPr/>
        </p:nvSpPr>
        <p:spPr>
          <a:xfrm>
            <a:off x="4123944" y="1417320"/>
            <a:ext cx="84124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Cost</a:t>
            </a:r>
            <a:endParaRPr lang="en-US" sz="1000" dirty="0"/>
          </a:p>
        </p:txBody>
      </p:sp>
      <p:sp>
        <p:nvSpPr>
          <p:cNvPr id="18" name="Shape 16"/>
          <p:cNvSpPr/>
          <p:nvPr/>
        </p:nvSpPr>
        <p:spPr>
          <a:xfrm>
            <a:off x="4983480" y="1417320"/>
            <a:ext cx="1371600" cy="347472"/>
          </a:xfrm>
          <a:prstGeom prst="rect">
            <a:avLst/>
          </a:prstGeom>
          <a:solidFill>
            <a:srgbClr val="1A2B4A"/>
          </a:solidFill>
          <a:ln w="12700">
            <a:solidFill>
              <a:srgbClr val="1A2B4A"/>
            </a:solidFill>
            <a:prstDash val="solid"/>
          </a:ln>
        </p:spPr>
      </p:sp>
      <p:sp>
        <p:nvSpPr>
          <p:cNvPr id="19" name="Text 17"/>
          <p:cNvSpPr/>
          <p:nvPr/>
        </p:nvSpPr>
        <p:spPr>
          <a:xfrm>
            <a:off x="5038344" y="1417320"/>
            <a:ext cx="129844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Time to Market</a:t>
            </a:r>
            <a:endParaRPr lang="en-US" sz="1000" dirty="0"/>
          </a:p>
        </p:txBody>
      </p:sp>
      <p:sp>
        <p:nvSpPr>
          <p:cNvPr id="20" name="Shape 18"/>
          <p:cNvSpPr/>
          <p:nvPr/>
        </p:nvSpPr>
        <p:spPr>
          <a:xfrm>
            <a:off x="6355080" y="1417320"/>
            <a:ext cx="1280160" cy="347472"/>
          </a:xfrm>
          <a:prstGeom prst="rect">
            <a:avLst/>
          </a:prstGeom>
          <a:solidFill>
            <a:srgbClr val="1A2B4A"/>
          </a:solidFill>
          <a:ln w="12700">
            <a:solidFill>
              <a:srgbClr val="1A2B4A"/>
            </a:solidFill>
            <a:prstDash val="solid"/>
          </a:ln>
        </p:spPr>
      </p:sp>
      <p:sp>
        <p:nvSpPr>
          <p:cNvPr id="21" name="Text 19"/>
          <p:cNvSpPr/>
          <p:nvPr/>
        </p:nvSpPr>
        <p:spPr>
          <a:xfrm>
            <a:off x="6409944" y="1417320"/>
            <a:ext cx="1207008"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Community</a:t>
            </a:r>
            <a:endParaRPr lang="en-US" sz="1000" dirty="0"/>
          </a:p>
        </p:txBody>
      </p:sp>
      <p:sp>
        <p:nvSpPr>
          <p:cNvPr id="22" name="Shape 20"/>
          <p:cNvSpPr/>
          <p:nvPr/>
        </p:nvSpPr>
        <p:spPr>
          <a:xfrm>
            <a:off x="320040" y="1810512"/>
            <a:ext cx="1371600" cy="420624"/>
          </a:xfrm>
          <a:prstGeom prst="rect">
            <a:avLst/>
          </a:prstGeom>
          <a:solidFill>
            <a:srgbClr val="FFFFFF"/>
          </a:solidFill>
          <a:ln w="6350">
            <a:solidFill>
              <a:srgbClr val="E2E8F0"/>
            </a:solidFill>
            <a:prstDash val="solid"/>
          </a:ln>
        </p:spPr>
      </p:sp>
      <p:sp>
        <p:nvSpPr>
          <p:cNvPr id="23" name="Text 21"/>
          <p:cNvSpPr/>
          <p:nvPr/>
        </p:nvSpPr>
        <p:spPr>
          <a:xfrm>
            <a:off x="374904" y="1828800"/>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React Native</a:t>
            </a:r>
            <a:endParaRPr lang="en-US" sz="1100" dirty="0"/>
          </a:p>
        </p:txBody>
      </p:sp>
      <p:sp>
        <p:nvSpPr>
          <p:cNvPr id="24" name="Shape 22"/>
          <p:cNvSpPr/>
          <p:nvPr/>
        </p:nvSpPr>
        <p:spPr>
          <a:xfrm>
            <a:off x="1691640" y="1810512"/>
            <a:ext cx="1188720" cy="420624"/>
          </a:xfrm>
          <a:prstGeom prst="rect">
            <a:avLst/>
          </a:prstGeom>
          <a:solidFill>
            <a:srgbClr val="FFFFFF"/>
          </a:solidFill>
          <a:ln w="6350">
            <a:solidFill>
              <a:srgbClr val="E2E8F0"/>
            </a:solidFill>
            <a:prstDash val="solid"/>
          </a:ln>
        </p:spPr>
      </p:sp>
      <p:sp>
        <p:nvSpPr>
          <p:cNvPr id="25" name="Text 23"/>
          <p:cNvSpPr/>
          <p:nvPr/>
        </p:nvSpPr>
        <p:spPr>
          <a:xfrm>
            <a:off x="1746504" y="1828800"/>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JS / TS</a:t>
            </a:r>
            <a:endParaRPr lang="en-US" sz="1000" dirty="0"/>
          </a:p>
        </p:txBody>
      </p:sp>
      <p:sp>
        <p:nvSpPr>
          <p:cNvPr id="26" name="Shape 24"/>
          <p:cNvSpPr/>
          <p:nvPr/>
        </p:nvSpPr>
        <p:spPr>
          <a:xfrm>
            <a:off x="2880360" y="1810512"/>
            <a:ext cx="1188720" cy="420624"/>
          </a:xfrm>
          <a:prstGeom prst="rect">
            <a:avLst/>
          </a:prstGeom>
          <a:solidFill>
            <a:srgbClr val="FFFFFF"/>
          </a:solidFill>
          <a:ln w="6350">
            <a:solidFill>
              <a:srgbClr val="E2E8F0"/>
            </a:solidFill>
            <a:prstDash val="solid"/>
          </a:ln>
        </p:spPr>
      </p:sp>
      <p:sp>
        <p:nvSpPr>
          <p:cNvPr id="27" name="Text 25"/>
          <p:cNvSpPr/>
          <p:nvPr/>
        </p:nvSpPr>
        <p:spPr>
          <a:xfrm>
            <a:off x="2935224" y="1828800"/>
            <a:ext cx="109728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High</a:t>
            </a:r>
            <a:endParaRPr lang="en-US" sz="1000" dirty="0"/>
          </a:p>
        </p:txBody>
      </p:sp>
      <p:sp>
        <p:nvSpPr>
          <p:cNvPr id="28" name="Shape 26"/>
          <p:cNvSpPr/>
          <p:nvPr/>
        </p:nvSpPr>
        <p:spPr>
          <a:xfrm>
            <a:off x="4069080" y="1810512"/>
            <a:ext cx="914400" cy="420624"/>
          </a:xfrm>
          <a:prstGeom prst="rect">
            <a:avLst/>
          </a:prstGeom>
          <a:solidFill>
            <a:srgbClr val="FFFFFF"/>
          </a:solidFill>
          <a:ln w="6350">
            <a:solidFill>
              <a:srgbClr val="E2E8F0"/>
            </a:solidFill>
            <a:prstDash val="solid"/>
          </a:ln>
        </p:spPr>
      </p:sp>
      <p:sp>
        <p:nvSpPr>
          <p:cNvPr id="29" name="Text 27"/>
          <p:cNvSpPr/>
          <p:nvPr/>
        </p:nvSpPr>
        <p:spPr>
          <a:xfrm>
            <a:off x="4123944" y="1828800"/>
            <a:ext cx="8229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30" name="Shape 28"/>
          <p:cNvSpPr/>
          <p:nvPr/>
        </p:nvSpPr>
        <p:spPr>
          <a:xfrm>
            <a:off x="4983480" y="1810512"/>
            <a:ext cx="1371600" cy="420624"/>
          </a:xfrm>
          <a:prstGeom prst="rect">
            <a:avLst/>
          </a:prstGeom>
          <a:solidFill>
            <a:srgbClr val="FFFFFF"/>
          </a:solidFill>
          <a:ln w="6350">
            <a:solidFill>
              <a:srgbClr val="E2E8F0"/>
            </a:solidFill>
            <a:prstDash val="solid"/>
          </a:ln>
        </p:spPr>
      </p:sp>
      <p:sp>
        <p:nvSpPr>
          <p:cNvPr id="31" name="Text 29"/>
          <p:cNvSpPr/>
          <p:nvPr/>
        </p:nvSpPr>
        <p:spPr>
          <a:xfrm>
            <a:off x="5038344" y="1828800"/>
            <a:ext cx="128016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Fast</a:t>
            </a:r>
            <a:endParaRPr lang="en-US" sz="1000" dirty="0"/>
          </a:p>
        </p:txBody>
      </p:sp>
      <p:sp>
        <p:nvSpPr>
          <p:cNvPr id="32" name="Shape 30"/>
          <p:cNvSpPr/>
          <p:nvPr/>
        </p:nvSpPr>
        <p:spPr>
          <a:xfrm>
            <a:off x="6355080" y="1810512"/>
            <a:ext cx="1280160" cy="420624"/>
          </a:xfrm>
          <a:prstGeom prst="rect">
            <a:avLst/>
          </a:prstGeom>
          <a:solidFill>
            <a:srgbClr val="FFFFFF"/>
          </a:solidFill>
          <a:ln w="6350">
            <a:solidFill>
              <a:srgbClr val="E2E8F0"/>
            </a:solidFill>
            <a:prstDash val="solid"/>
          </a:ln>
        </p:spPr>
      </p:sp>
      <p:sp>
        <p:nvSpPr>
          <p:cNvPr id="33" name="Text 31"/>
          <p:cNvSpPr/>
          <p:nvPr/>
        </p:nvSpPr>
        <p:spPr>
          <a:xfrm>
            <a:off x="6409944" y="1828800"/>
            <a:ext cx="118872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Strong</a:t>
            </a:r>
            <a:endParaRPr lang="en-US" sz="1000" dirty="0"/>
          </a:p>
        </p:txBody>
      </p:sp>
      <p:sp>
        <p:nvSpPr>
          <p:cNvPr id="34" name="Shape 32"/>
          <p:cNvSpPr/>
          <p:nvPr/>
        </p:nvSpPr>
        <p:spPr>
          <a:xfrm>
            <a:off x="320040" y="2249424"/>
            <a:ext cx="1371600" cy="420624"/>
          </a:xfrm>
          <a:prstGeom prst="rect">
            <a:avLst/>
          </a:prstGeom>
          <a:solidFill>
            <a:srgbClr val="F8F6F2"/>
          </a:solidFill>
          <a:ln w="6350">
            <a:solidFill>
              <a:srgbClr val="E2E8F0"/>
            </a:solidFill>
            <a:prstDash val="solid"/>
          </a:ln>
        </p:spPr>
      </p:sp>
      <p:sp>
        <p:nvSpPr>
          <p:cNvPr id="35" name="Text 33"/>
          <p:cNvSpPr/>
          <p:nvPr/>
        </p:nvSpPr>
        <p:spPr>
          <a:xfrm>
            <a:off x="374904" y="2267712"/>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Flutter</a:t>
            </a:r>
            <a:endParaRPr lang="en-US" sz="1100" dirty="0"/>
          </a:p>
        </p:txBody>
      </p:sp>
      <p:sp>
        <p:nvSpPr>
          <p:cNvPr id="36" name="Shape 34"/>
          <p:cNvSpPr/>
          <p:nvPr/>
        </p:nvSpPr>
        <p:spPr>
          <a:xfrm>
            <a:off x="1691640" y="2249424"/>
            <a:ext cx="1188720" cy="420624"/>
          </a:xfrm>
          <a:prstGeom prst="rect">
            <a:avLst/>
          </a:prstGeom>
          <a:solidFill>
            <a:srgbClr val="F8F6F2"/>
          </a:solidFill>
          <a:ln w="6350">
            <a:solidFill>
              <a:srgbClr val="E2E8F0"/>
            </a:solidFill>
            <a:prstDash val="solid"/>
          </a:ln>
        </p:spPr>
      </p:sp>
      <p:sp>
        <p:nvSpPr>
          <p:cNvPr id="37" name="Text 35"/>
          <p:cNvSpPr/>
          <p:nvPr/>
        </p:nvSpPr>
        <p:spPr>
          <a:xfrm>
            <a:off x="1746504" y="2267712"/>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Dart</a:t>
            </a:r>
            <a:endParaRPr lang="en-US" sz="1000" dirty="0"/>
          </a:p>
        </p:txBody>
      </p:sp>
      <p:sp>
        <p:nvSpPr>
          <p:cNvPr id="38" name="Shape 36"/>
          <p:cNvSpPr/>
          <p:nvPr/>
        </p:nvSpPr>
        <p:spPr>
          <a:xfrm>
            <a:off x="2880360" y="2249424"/>
            <a:ext cx="1188720" cy="420624"/>
          </a:xfrm>
          <a:prstGeom prst="rect">
            <a:avLst/>
          </a:prstGeom>
          <a:solidFill>
            <a:srgbClr val="F8F6F2"/>
          </a:solidFill>
          <a:ln w="6350">
            <a:solidFill>
              <a:srgbClr val="E2E8F0"/>
            </a:solidFill>
            <a:prstDash val="solid"/>
          </a:ln>
        </p:spPr>
      </p:sp>
      <p:sp>
        <p:nvSpPr>
          <p:cNvPr id="39" name="Text 37"/>
          <p:cNvSpPr/>
          <p:nvPr/>
        </p:nvSpPr>
        <p:spPr>
          <a:xfrm>
            <a:off x="2935224" y="2267712"/>
            <a:ext cx="109728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High</a:t>
            </a:r>
            <a:endParaRPr lang="en-US" sz="1000" dirty="0"/>
          </a:p>
        </p:txBody>
      </p:sp>
      <p:sp>
        <p:nvSpPr>
          <p:cNvPr id="40" name="Shape 38"/>
          <p:cNvSpPr/>
          <p:nvPr/>
        </p:nvSpPr>
        <p:spPr>
          <a:xfrm>
            <a:off x="4069080" y="2249424"/>
            <a:ext cx="914400" cy="420624"/>
          </a:xfrm>
          <a:prstGeom prst="rect">
            <a:avLst/>
          </a:prstGeom>
          <a:solidFill>
            <a:srgbClr val="F8F6F2"/>
          </a:solidFill>
          <a:ln w="6350">
            <a:solidFill>
              <a:srgbClr val="E2E8F0"/>
            </a:solidFill>
            <a:prstDash val="solid"/>
          </a:ln>
        </p:spPr>
      </p:sp>
      <p:sp>
        <p:nvSpPr>
          <p:cNvPr id="41" name="Text 39"/>
          <p:cNvSpPr/>
          <p:nvPr/>
        </p:nvSpPr>
        <p:spPr>
          <a:xfrm>
            <a:off x="4123944" y="2267712"/>
            <a:ext cx="8229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42" name="Shape 40"/>
          <p:cNvSpPr/>
          <p:nvPr/>
        </p:nvSpPr>
        <p:spPr>
          <a:xfrm>
            <a:off x="4983480" y="2249424"/>
            <a:ext cx="1371600" cy="420624"/>
          </a:xfrm>
          <a:prstGeom prst="rect">
            <a:avLst/>
          </a:prstGeom>
          <a:solidFill>
            <a:srgbClr val="F8F6F2"/>
          </a:solidFill>
          <a:ln w="6350">
            <a:solidFill>
              <a:srgbClr val="E2E8F0"/>
            </a:solidFill>
            <a:prstDash val="solid"/>
          </a:ln>
        </p:spPr>
      </p:sp>
      <p:sp>
        <p:nvSpPr>
          <p:cNvPr id="43" name="Text 41"/>
          <p:cNvSpPr/>
          <p:nvPr/>
        </p:nvSpPr>
        <p:spPr>
          <a:xfrm>
            <a:off x="5038344" y="2267712"/>
            <a:ext cx="128016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Fast</a:t>
            </a:r>
            <a:endParaRPr lang="en-US" sz="1000" dirty="0"/>
          </a:p>
        </p:txBody>
      </p:sp>
      <p:sp>
        <p:nvSpPr>
          <p:cNvPr id="44" name="Shape 42"/>
          <p:cNvSpPr/>
          <p:nvPr/>
        </p:nvSpPr>
        <p:spPr>
          <a:xfrm>
            <a:off x="6355080" y="2249424"/>
            <a:ext cx="1280160" cy="420624"/>
          </a:xfrm>
          <a:prstGeom prst="rect">
            <a:avLst/>
          </a:prstGeom>
          <a:solidFill>
            <a:srgbClr val="F8F6F2"/>
          </a:solidFill>
          <a:ln w="6350">
            <a:solidFill>
              <a:srgbClr val="E2E8F0"/>
            </a:solidFill>
            <a:prstDash val="solid"/>
          </a:ln>
        </p:spPr>
      </p:sp>
      <p:sp>
        <p:nvSpPr>
          <p:cNvPr id="45" name="Text 43"/>
          <p:cNvSpPr/>
          <p:nvPr/>
        </p:nvSpPr>
        <p:spPr>
          <a:xfrm>
            <a:off x="6409944" y="2267712"/>
            <a:ext cx="118872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Strong</a:t>
            </a:r>
            <a:endParaRPr lang="en-US" sz="1000" dirty="0"/>
          </a:p>
        </p:txBody>
      </p:sp>
      <p:sp>
        <p:nvSpPr>
          <p:cNvPr id="46" name="Shape 44"/>
          <p:cNvSpPr/>
          <p:nvPr/>
        </p:nvSpPr>
        <p:spPr>
          <a:xfrm>
            <a:off x="320040" y="2688336"/>
            <a:ext cx="1371600" cy="420624"/>
          </a:xfrm>
          <a:prstGeom prst="rect">
            <a:avLst/>
          </a:prstGeom>
          <a:solidFill>
            <a:srgbClr val="FFFFFF"/>
          </a:solidFill>
          <a:ln w="6350">
            <a:solidFill>
              <a:srgbClr val="E2E8F0"/>
            </a:solidFill>
            <a:prstDash val="solid"/>
          </a:ln>
        </p:spPr>
      </p:sp>
      <p:sp>
        <p:nvSpPr>
          <p:cNvPr id="47" name="Text 45"/>
          <p:cNvSpPr/>
          <p:nvPr/>
        </p:nvSpPr>
        <p:spPr>
          <a:xfrm>
            <a:off x="374904" y="2706624"/>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Expo</a:t>
            </a:r>
            <a:endParaRPr lang="en-US" sz="1100" dirty="0"/>
          </a:p>
        </p:txBody>
      </p:sp>
      <p:sp>
        <p:nvSpPr>
          <p:cNvPr id="48" name="Shape 46"/>
          <p:cNvSpPr/>
          <p:nvPr/>
        </p:nvSpPr>
        <p:spPr>
          <a:xfrm>
            <a:off x="1691640" y="2688336"/>
            <a:ext cx="1188720" cy="420624"/>
          </a:xfrm>
          <a:prstGeom prst="rect">
            <a:avLst/>
          </a:prstGeom>
          <a:solidFill>
            <a:srgbClr val="FFFFFF"/>
          </a:solidFill>
          <a:ln w="6350">
            <a:solidFill>
              <a:srgbClr val="E2E8F0"/>
            </a:solidFill>
            <a:prstDash val="solid"/>
          </a:ln>
        </p:spPr>
      </p:sp>
      <p:sp>
        <p:nvSpPr>
          <p:cNvPr id="49" name="Text 47"/>
          <p:cNvSpPr/>
          <p:nvPr/>
        </p:nvSpPr>
        <p:spPr>
          <a:xfrm>
            <a:off x="1746504" y="2706624"/>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JS / TS</a:t>
            </a:r>
            <a:endParaRPr lang="en-US" sz="1000" dirty="0"/>
          </a:p>
        </p:txBody>
      </p:sp>
      <p:sp>
        <p:nvSpPr>
          <p:cNvPr id="50" name="Shape 48"/>
          <p:cNvSpPr/>
          <p:nvPr/>
        </p:nvSpPr>
        <p:spPr>
          <a:xfrm>
            <a:off x="2880360" y="2688336"/>
            <a:ext cx="1188720" cy="420624"/>
          </a:xfrm>
          <a:prstGeom prst="rect">
            <a:avLst/>
          </a:prstGeom>
          <a:solidFill>
            <a:srgbClr val="FFFFFF"/>
          </a:solidFill>
          <a:ln w="6350">
            <a:solidFill>
              <a:srgbClr val="E2E8F0"/>
            </a:solidFill>
            <a:prstDash val="solid"/>
          </a:ln>
        </p:spPr>
      </p:sp>
      <p:sp>
        <p:nvSpPr>
          <p:cNvPr id="51" name="Text 49"/>
          <p:cNvSpPr/>
          <p:nvPr/>
        </p:nvSpPr>
        <p:spPr>
          <a:xfrm>
            <a:off x="2935224" y="2706624"/>
            <a:ext cx="109728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52" name="Shape 50"/>
          <p:cNvSpPr/>
          <p:nvPr/>
        </p:nvSpPr>
        <p:spPr>
          <a:xfrm>
            <a:off x="4069080" y="2688336"/>
            <a:ext cx="914400" cy="420624"/>
          </a:xfrm>
          <a:prstGeom prst="rect">
            <a:avLst/>
          </a:prstGeom>
          <a:solidFill>
            <a:srgbClr val="FFFFFF"/>
          </a:solidFill>
          <a:ln w="6350">
            <a:solidFill>
              <a:srgbClr val="E2E8F0"/>
            </a:solidFill>
            <a:prstDash val="solid"/>
          </a:ln>
        </p:spPr>
      </p:sp>
      <p:sp>
        <p:nvSpPr>
          <p:cNvPr id="53" name="Text 51"/>
          <p:cNvSpPr/>
          <p:nvPr/>
        </p:nvSpPr>
        <p:spPr>
          <a:xfrm>
            <a:off x="4123944" y="2706624"/>
            <a:ext cx="82296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Low</a:t>
            </a:r>
            <a:endParaRPr lang="en-US" sz="1000" dirty="0"/>
          </a:p>
        </p:txBody>
      </p:sp>
      <p:sp>
        <p:nvSpPr>
          <p:cNvPr id="54" name="Shape 52"/>
          <p:cNvSpPr/>
          <p:nvPr/>
        </p:nvSpPr>
        <p:spPr>
          <a:xfrm>
            <a:off x="4983480" y="2688336"/>
            <a:ext cx="1371600" cy="420624"/>
          </a:xfrm>
          <a:prstGeom prst="rect">
            <a:avLst/>
          </a:prstGeom>
          <a:solidFill>
            <a:srgbClr val="FFFFFF"/>
          </a:solidFill>
          <a:ln w="6350">
            <a:solidFill>
              <a:srgbClr val="E2E8F0"/>
            </a:solidFill>
            <a:prstDash val="solid"/>
          </a:ln>
        </p:spPr>
      </p:sp>
      <p:sp>
        <p:nvSpPr>
          <p:cNvPr id="55" name="Text 53"/>
          <p:cNvSpPr/>
          <p:nvPr/>
        </p:nvSpPr>
        <p:spPr>
          <a:xfrm>
            <a:off x="5038344" y="2706624"/>
            <a:ext cx="128016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Fast</a:t>
            </a:r>
            <a:endParaRPr lang="en-US" sz="1000" dirty="0"/>
          </a:p>
        </p:txBody>
      </p:sp>
      <p:sp>
        <p:nvSpPr>
          <p:cNvPr id="56" name="Shape 54"/>
          <p:cNvSpPr/>
          <p:nvPr/>
        </p:nvSpPr>
        <p:spPr>
          <a:xfrm>
            <a:off x="6355080" y="2688336"/>
            <a:ext cx="1280160" cy="420624"/>
          </a:xfrm>
          <a:prstGeom prst="rect">
            <a:avLst/>
          </a:prstGeom>
          <a:solidFill>
            <a:srgbClr val="FFFFFF"/>
          </a:solidFill>
          <a:ln w="6350">
            <a:solidFill>
              <a:srgbClr val="E2E8F0"/>
            </a:solidFill>
            <a:prstDash val="solid"/>
          </a:ln>
        </p:spPr>
      </p:sp>
      <p:sp>
        <p:nvSpPr>
          <p:cNvPr id="57" name="Text 55"/>
          <p:cNvSpPr/>
          <p:nvPr/>
        </p:nvSpPr>
        <p:spPr>
          <a:xfrm>
            <a:off x="6409944" y="2706624"/>
            <a:ext cx="118872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Strong</a:t>
            </a:r>
            <a:endParaRPr lang="en-US" sz="1000" dirty="0"/>
          </a:p>
        </p:txBody>
      </p:sp>
      <p:sp>
        <p:nvSpPr>
          <p:cNvPr id="58" name="Shape 56"/>
          <p:cNvSpPr/>
          <p:nvPr/>
        </p:nvSpPr>
        <p:spPr>
          <a:xfrm>
            <a:off x="320040" y="3127248"/>
            <a:ext cx="1371600" cy="420624"/>
          </a:xfrm>
          <a:prstGeom prst="rect">
            <a:avLst/>
          </a:prstGeom>
          <a:solidFill>
            <a:srgbClr val="F8F6F2"/>
          </a:solidFill>
          <a:ln w="6350">
            <a:solidFill>
              <a:srgbClr val="E2E8F0"/>
            </a:solidFill>
            <a:prstDash val="solid"/>
          </a:ln>
        </p:spPr>
      </p:sp>
      <p:sp>
        <p:nvSpPr>
          <p:cNvPr id="59" name="Text 57"/>
          <p:cNvSpPr/>
          <p:nvPr/>
        </p:nvSpPr>
        <p:spPr>
          <a:xfrm>
            <a:off x="374904" y="3145536"/>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Ionic</a:t>
            </a:r>
            <a:endParaRPr lang="en-US" sz="1100" dirty="0"/>
          </a:p>
        </p:txBody>
      </p:sp>
      <p:sp>
        <p:nvSpPr>
          <p:cNvPr id="60" name="Shape 58"/>
          <p:cNvSpPr/>
          <p:nvPr/>
        </p:nvSpPr>
        <p:spPr>
          <a:xfrm>
            <a:off x="1691640" y="3127248"/>
            <a:ext cx="1188720" cy="420624"/>
          </a:xfrm>
          <a:prstGeom prst="rect">
            <a:avLst/>
          </a:prstGeom>
          <a:solidFill>
            <a:srgbClr val="F8F6F2"/>
          </a:solidFill>
          <a:ln w="6350">
            <a:solidFill>
              <a:srgbClr val="E2E8F0"/>
            </a:solidFill>
            <a:prstDash val="solid"/>
          </a:ln>
        </p:spPr>
      </p:sp>
      <p:sp>
        <p:nvSpPr>
          <p:cNvPr id="61" name="Text 59"/>
          <p:cNvSpPr/>
          <p:nvPr/>
        </p:nvSpPr>
        <p:spPr>
          <a:xfrm>
            <a:off x="1746504" y="3145536"/>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HTML/CSS/JS</a:t>
            </a:r>
            <a:endParaRPr lang="en-US" sz="1000" dirty="0"/>
          </a:p>
        </p:txBody>
      </p:sp>
      <p:sp>
        <p:nvSpPr>
          <p:cNvPr id="62" name="Shape 60"/>
          <p:cNvSpPr/>
          <p:nvPr/>
        </p:nvSpPr>
        <p:spPr>
          <a:xfrm>
            <a:off x="2880360" y="3127248"/>
            <a:ext cx="1188720" cy="420624"/>
          </a:xfrm>
          <a:prstGeom prst="rect">
            <a:avLst/>
          </a:prstGeom>
          <a:solidFill>
            <a:srgbClr val="F8F6F2"/>
          </a:solidFill>
          <a:ln w="6350">
            <a:solidFill>
              <a:srgbClr val="E2E8F0"/>
            </a:solidFill>
            <a:prstDash val="solid"/>
          </a:ln>
        </p:spPr>
      </p:sp>
      <p:sp>
        <p:nvSpPr>
          <p:cNvPr id="63" name="Text 61"/>
          <p:cNvSpPr/>
          <p:nvPr/>
        </p:nvSpPr>
        <p:spPr>
          <a:xfrm>
            <a:off x="2935224" y="3145536"/>
            <a:ext cx="109728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64" name="Shape 62"/>
          <p:cNvSpPr/>
          <p:nvPr/>
        </p:nvSpPr>
        <p:spPr>
          <a:xfrm>
            <a:off x="4069080" y="3127248"/>
            <a:ext cx="914400" cy="420624"/>
          </a:xfrm>
          <a:prstGeom prst="rect">
            <a:avLst/>
          </a:prstGeom>
          <a:solidFill>
            <a:srgbClr val="F8F6F2"/>
          </a:solidFill>
          <a:ln w="6350">
            <a:solidFill>
              <a:srgbClr val="E2E8F0"/>
            </a:solidFill>
            <a:prstDash val="solid"/>
          </a:ln>
        </p:spPr>
      </p:sp>
      <p:sp>
        <p:nvSpPr>
          <p:cNvPr id="65" name="Text 63"/>
          <p:cNvSpPr/>
          <p:nvPr/>
        </p:nvSpPr>
        <p:spPr>
          <a:xfrm>
            <a:off x="4123944" y="3145536"/>
            <a:ext cx="82296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Low</a:t>
            </a:r>
            <a:endParaRPr lang="en-US" sz="1000" dirty="0"/>
          </a:p>
        </p:txBody>
      </p:sp>
      <p:sp>
        <p:nvSpPr>
          <p:cNvPr id="66" name="Shape 64"/>
          <p:cNvSpPr/>
          <p:nvPr/>
        </p:nvSpPr>
        <p:spPr>
          <a:xfrm>
            <a:off x="4983480" y="3127248"/>
            <a:ext cx="1371600" cy="420624"/>
          </a:xfrm>
          <a:prstGeom prst="rect">
            <a:avLst/>
          </a:prstGeom>
          <a:solidFill>
            <a:srgbClr val="F8F6F2"/>
          </a:solidFill>
          <a:ln w="6350">
            <a:solidFill>
              <a:srgbClr val="E2E8F0"/>
            </a:solidFill>
            <a:prstDash val="solid"/>
          </a:ln>
        </p:spPr>
      </p:sp>
      <p:sp>
        <p:nvSpPr>
          <p:cNvPr id="67" name="Text 65"/>
          <p:cNvSpPr/>
          <p:nvPr/>
        </p:nvSpPr>
        <p:spPr>
          <a:xfrm>
            <a:off x="5038344" y="3145536"/>
            <a:ext cx="128016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Fast</a:t>
            </a:r>
            <a:endParaRPr lang="en-US" sz="1000" dirty="0"/>
          </a:p>
        </p:txBody>
      </p:sp>
      <p:sp>
        <p:nvSpPr>
          <p:cNvPr id="68" name="Shape 66"/>
          <p:cNvSpPr/>
          <p:nvPr/>
        </p:nvSpPr>
        <p:spPr>
          <a:xfrm>
            <a:off x="6355080" y="3127248"/>
            <a:ext cx="1280160" cy="420624"/>
          </a:xfrm>
          <a:prstGeom prst="rect">
            <a:avLst/>
          </a:prstGeom>
          <a:solidFill>
            <a:srgbClr val="F8F6F2"/>
          </a:solidFill>
          <a:ln w="6350">
            <a:solidFill>
              <a:srgbClr val="E2E8F0"/>
            </a:solidFill>
            <a:prstDash val="solid"/>
          </a:ln>
        </p:spPr>
      </p:sp>
      <p:sp>
        <p:nvSpPr>
          <p:cNvPr id="69" name="Text 67"/>
          <p:cNvSpPr/>
          <p:nvPr/>
        </p:nvSpPr>
        <p:spPr>
          <a:xfrm>
            <a:off x="6409944" y="3145536"/>
            <a:ext cx="118872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Strong</a:t>
            </a:r>
            <a:endParaRPr lang="en-US" sz="1000" dirty="0"/>
          </a:p>
        </p:txBody>
      </p:sp>
      <p:sp>
        <p:nvSpPr>
          <p:cNvPr id="70" name="Shape 68"/>
          <p:cNvSpPr/>
          <p:nvPr/>
        </p:nvSpPr>
        <p:spPr>
          <a:xfrm>
            <a:off x="320040" y="3566160"/>
            <a:ext cx="1371600" cy="420624"/>
          </a:xfrm>
          <a:prstGeom prst="rect">
            <a:avLst/>
          </a:prstGeom>
          <a:solidFill>
            <a:srgbClr val="FFFFFF"/>
          </a:solidFill>
          <a:ln w="6350">
            <a:solidFill>
              <a:srgbClr val="E2E8F0"/>
            </a:solidFill>
            <a:prstDash val="solid"/>
          </a:ln>
        </p:spPr>
      </p:sp>
      <p:sp>
        <p:nvSpPr>
          <p:cNvPr id="71" name="Text 69"/>
          <p:cNvSpPr/>
          <p:nvPr/>
        </p:nvSpPr>
        <p:spPr>
          <a:xfrm>
            <a:off x="374904" y="3584448"/>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Xamarin</a:t>
            </a:r>
            <a:endParaRPr lang="en-US" sz="1100" dirty="0"/>
          </a:p>
        </p:txBody>
      </p:sp>
      <p:sp>
        <p:nvSpPr>
          <p:cNvPr id="72" name="Shape 70"/>
          <p:cNvSpPr/>
          <p:nvPr/>
        </p:nvSpPr>
        <p:spPr>
          <a:xfrm>
            <a:off x="1691640" y="3566160"/>
            <a:ext cx="1188720" cy="420624"/>
          </a:xfrm>
          <a:prstGeom prst="rect">
            <a:avLst/>
          </a:prstGeom>
          <a:solidFill>
            <a:srgbClr val="FFFFFF"/>
          </a:solidFill>
          <a:ln w="6350">
            <a:solidFill>
              <a:srgbClr val="E2E8F0"/>
            </a:solidFill>
            <a:prstDash val="solid"/>
          </a:ln>
        </p:spPr>
      </p:sp>
      <p:sp>
        <p:nvSpPr>
          <p:cNvPr id="73" name="Text 71"/>
          <p:cNvSpPr/>
          <p:nvPr/>
        </p:nvSpPr>
        <p:spPr>
          <a:xfrm>
            <a:off x="1746504" y="3584448"/>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C#</a:t>
            </a:r>
            <a:endParaRPr lang="en-US" sz="1000" dirty="0"/>
          </a:p>
        </p:txBody>
      </p:sp>
      <p:sp>
        <p:nvSpPr>
          <p:cNvPr id="74" name="Shape 72"/>
          <p:cNvSpPr/>
          <p:nvPr/>
        </p:nvSpPr>
        <p:spPr>
          <a:xfrm>
            <a:off x="2880360" y="3566160"/>
            <a:ext cx="1188720" cy="420624"/>
          </a:xfrm>
          <a:prstGeom prst="rect">
            <a:avLst/>
          </a:prstGeom>
          <a:solidFill>
            <a:srgbClr val="FFFFFF"/>
          </a:solidFill>
          <a:ln w="6350">
            <a:solidFill>
              <a:srgbClr val="E2E8F0"/>
            </a:solidFill>
            <a:prstDash val="solid"/>
          </a:ln>
        </p:spPr>
      </p:sp>
      <p:sp>
        <p:nvSpPr>
          <p:cNvPr id="75" name="Text 73"/>
          <p:cNvSpPr/>
          <p:nvPr/>
        </p:nvSpPr>
        <p:spPr>
          <a:xfrm>
            <a:off x="2935224" y="3584448"/>
            <a:ext cx="109728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High</a:t>
            </a:r>
            <a:endParaRPr lang="en-US" sz="1000" dirty="0"/>
          </a:p>
        </p:txBody>
      </p:sp>
      <p:sp>
        <p:nvSpPr>
          <p:cNvPr id="76" name="Shape 74"/>
          <p:cNvSpPr/>
          <p:nvPr/>
        </p:nvSpPr>
        <p:spPr>
          <a:xfrm>
            <a:off x="4069080" y="3566160"/>
            <a:ext cx="914400" cy="420624"/>
          </a:xfrm>
          <a:prstGeom prst="rect">
            <a:avLst/>
          </a:prstGeom>
          <a:solidFill>
            <a:srgbClr val="FFFFFF"/>
          </a:solidFill>
          <a:ln w="6350">
            <a:solidFill>
              <a:srgbClr val="E2E8F0"/>
            </a:solidFill>
            <a:prstDash val="solid"/>
          </a:ln>
        </p:spPr>
      </p:sp>
      <p:sp>
        <p:nvSpPr>
          <p:cNvPr id="77" name="Text 75"/>
          <p:cNvSpPr/>
          <p:nvPr/>
        </p:nvSpPr>
        <p:spPr>
          <a:xfrm>
            <a:off x="4123944" y="3584448"/>
            <a:ext cx="82296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High</a:t>
            </a:r>
            <a:endParaRPr lang="en-US" sz="1000" dirty="0"/>
          </a:p>
        </p:txBody>
      </p:sp>
      <p:sp>
        <p:nvSpPr>
          <p:cNvPr id="78" name="Shape 76"/>
          <p:cNvSpPr/>
          <p:nvPr/>
        </p:nvSpPr>
        <p:spPr>
          <a:xfrm>
            <a:off x="4983480" y="3566160"/>
            <a:ext cx="1371600" cy="420624"/>
          </a:xfrm>
          <a:prstGeom prst="rect">
            <a:avLst/>
          </a:prstGeom>
          <a:solidFill>
            <a:srgbClr val="FFFFFF"/>
          </a:solidFill>
          <a:ln w="6350">
            <a:solidFill>
              <a:srgbClr val="E2E8F0"/>
            </a:solidFill>
            <a:prstDash val="solid"/>
          </a:ln>
        </p:spPr>
      </p:sp>
      <p:sp>
        <p:nvSpPr>
          <p:cNvPr id="79" name="Text 77"/>
          <p:cNvSpPr/>
          <p:nvPr/>
        </p:nvSpPr>
        <p:spPr>
          <a:xfrm>
            <a:off x="5038344" y="3584448"/>
            <a:ext cx="12801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80" name="Shape 78"/>
          <p:cNvSpPr/>
          <p:nvPr/>
        </p:nvSpPr>
        <p:spPr>
          <a:xfrm>
            <a:off x="6355080" y="3566160"/>
            <a:ext cx="1280160" cy="420624"/>
          </a:xfrm>
          <a:prstGeom prst="rect">
            <a:avLst/>
          </a:prstGeom>
          <a:solidFill>
            <a:srgbClr val="FFFFFF"/>
          </a:solidFill>
          <a:ln w="6350">
            <a:solidFill>
              <a:srgbClr val="E2E8F0"/>
            </a:solidFill>
            <a:prstDash val="solid"/>
          </a:ln>
        </p:spPr>
      </p:sp>
      <p:sp>
        <p:nvSpPr>
          <p:cNvPr id="81" name="Text 79"/>
          <p:cNvSpPr/>
          <p:nvPr/>
        </p:nvSpPr>
        <p:spPr>
          <a:xfrm>
            <a:off x="6409944" y="3584448"/>
            <a:ext cx="118872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82" name="Shape 80"/>
          <p:cNvSpPr/>
          <p:nvPr/>
        </p:nvSpPr>
        <p:spPr>
          <a:xfrm>
            <a:off x="320040" y="4005072"/>
            <a:ext cx="1371600" cy="420624"/>
          </a:xfrm>
          <a:prstGeom prst="rect">
            <a:avLst/>
          </a:prstGeom>
          <a:solidFill>
            <a:srgbClr val="F8F6F2"/>
          </a:solidFill>
          <a:ln w="6350">
            <a:solidFill>
              <a:srgbClr val="E2E8F0"/>
            </a:solidFill>
            <a:prstDash val="solid"/>
          </a:ln>
        </p:spPr>
      </p:sp>
      <p:sp>
        <p:nvSpPr>
          <p:cNvPr id="83" name="Text 81"/>
          <p:cNvSpPr/>
          <p:nvPr/>
        </p:nvSpPr>
        <p:spPr>
          <a:xfrm>
            <a:off x="374904" y="4023360"/>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NativeScript</a:t>
            </a:r>
            <a:endParaRPr lang="en-US" sz="1100" dirty="0"/>
          </a:p>
        </p:txBody>
      </p:sp>
      <p:sp>
        <p:nvSpPr>
          <p:cNvPr id="84" name="Shape 82"/>
          <p:cNvSpPr/>
          <p:nvPr/>
        </p:nvSpPr>
        <p:spPr>
          <a:xfrm>
            <a:off x="1691640" y="4005072"/>
            <a:ext cx="1188720" cy="420624"/>
          </a:xfrm>
          <a:prstGeom prst="rect">
            <a:avLst/>
          </a:prstGeom>
          <a:solidFill>
            <a:srgbClr val="F8F6F2"/>
          </a:solidFill>
          <a:ln w="6350">
            <a:solidFill>
              <a:srgbClr val="E2E8F0"/>
            </a:solidFill>
            <a:prstDash val="solid"/>
          </a:ln>
        </p:spPr>
      </p:sp>
      <p:sp>
        <p:nvSpPr>
          <p:cNvPr id="85" name="Text 83"/>
          <p:cNvSpPr/>
          <p:nvPr/>
        </p:nvSpPr>
        <p:spPr>
          <a:xfrm>
            <a:off x="1746504" y="4023360"/>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JS / TS</a:t>
            </a:r>
            <a:endParaRPr lang="en-US" sz="1000" dirty="0"/>
          </a:p>
        </p:txBody>
      </p:sp>
      <p:sp>
        <p:nvSpPr>
          <p:cNvPr id="86" name="Shape 84"/>
          <p:cNvSpPr/>
          <p:nvPr/>
        </p:nvSpPr>
        <p:spPr>
          <a:xfrm>
            <a:off x="2880360" y="4005072"/>
            <a:ext cx="1188720" cy="420624"/>
          </a:xfrm>
          <a:prstGeom prst="rect">
            <a:avLst/>
          </a:prstGeom>
          <a:solidFill>
            <a:srgbClr val="F8F6F2"/>
          </a:solidFill>
          <a:ln w="6350">
            <a:solidFill>
              <a:srgbClr val="E2E8F0"/>
            </a:solidFill>
            <a:prstDash val="solid"/>
          </a:ln>
        </p:spPr>
      </p:sp>
      <p:sp>
        <p:nvSpPr>
          <p:cNvPr id="87" name="Text 85"/>
          <p:cNvSpPr/>
          <p:nvPr/>
        </p:nvSpPr>
        <p:spPr>
          <a:xfrm>
            <a:off x="2935224" y="4023360"/>
            <a:ext cx="109728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High</a:t>
            </a:r>
            <a:endParaRPr lang="en-US" sz="1000" dirty="0"/>
          </a:p>
        </p:txBody>
      </p:sp>
      <p:sp>
        <p:nvSpPr>
          <p:cNvPr id="88" name="Shape 86"/>
          <p:cNvSpPr/>
          <p:nvPr/>
        </p:nvSpPr>
        <p:spPr>
          <a:xfrm>
            <a:off x="4069080" y="4005072"/>
            <a:ext cx="914400" cy="420624"/>
          </a:xfrm>
          <a:prstGeom prst="rect">
            <a:avLst/>
          </a:prstGeom>
          <a:solidFill>
            <a:srgbClr val="F8F6F2"/>
          </a:solidFill>
          <a:ln w="6350">
            <a:solidFill>
              <a:srgbClr val="E2E8F0"/>
            </a:solidFill>
            <a:prstDash val="solid"/>
          </a:ln>
        </p:spPr>
      </p:sp>
      <p:sp>
        <p:nvSpPr>
          <p:cNvPr id="89" name="Text 87"/>
          <p:cNvSpPr/>
          <p:nvPr/>
        </p:nvSpPr>
        <p:spPr>
          <a:xfrm>
            <a:off x="4123944" y="4023360"/>
            <a:ext cx="8229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90" name="Shape 88"/>
          <p:cNvSpPr/>
          <p:nvPr/>
        </p:nvSpPr>
        <p:spPr>
          <a:xfrm>
            <a:off x="4983480" y="4005072"/>
            <a:ext cx="1371600" cy="420624"/>
          </a:xfrm>
          <a:prstGeom prst="rect">
            <a:avLst/>
          </a:prstGeom>
          <a:solidFill>
            <a:srgbClr val="F8F6F2"/>
          </a:solidFill>
          <a:ln w="6350">
            <a:solidFill>
              <a:srgbClr val="E2E8F0"/>
            </a:solidFill>
            <a:prstDash val="solid"/>
          </a:ln>
        </p:spPr>
      </p:sp>
      <p:sp>
        <p:nvSpPr>
          <p:cNvPr id="91" name="Text 89"/>
          <p:cNvSpPr/>
          <p:nvPr/>
        </p:nvSpPr>
        <p:spPr>
          <a:xfrm>
            <a:off x="5038344" y="4023360"/>
            <a:ext cx="12801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92" name="Shape 90"/>
          <p:cNvSpPr/>
          <p:nvPr/>
        </p:nvSpPr>
        <p:spPr>
          <a:xfrm>
            <a:off x="6355080" y="4005072"/>
            <a:ext cx="1280160" cy="420624"/>
          </a:xfrm>
          <a:prstGeom prst="rect">
            <a:avLst/>
          </a:prstGeom>
          <a:solidFill>
            <a:srgbClr val="F8F6F2"/>
          </a:solidFill>
          <a:ln w="6350">
            <a:solidFill>
              <a:srgbClr val="E2E8F0"/>
            </a:solidFill>
            <a:prstDash val="solid"/>
          </a:ln>
        </p:spPr>
      </p:sp>
      <p:sp>
        <p:nvSpPr>
          <p:cNvPr id="93" name="Text 91"/>
          <p:cNvSpPr/>
          <p:nvPr/>
        </p:nvSpPr>
        <p:spPr>
          <a:xfrm>
            <a:off x="6409944" y="4023360"/>
            <a:ext cx="118872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Moderate</a:t>
            </a:r>
            <a:endParaRPr lang="en-US" sz="1000" dirty="0"/>
          </a:p>
        </p:txBody>
      </p:sp>
      <p:sp>
        <p:nvSpPr>
          <p:cNvPr id="94" name="Shape 92"/>
          <p:cNvSpPr/>
          <p:nvPr/>
        </p:nvSpPr>
        <p:spPr>
          <a:xfrm>
            <a:off x="320040" y="4443984"/>
            <a:ext cx="1371600" cy="420624"/>
          </a:xfrm>
          <a:prstGeom prst="rect">
            <a:avLst/>
          </a:prstGeom>
          <a:solidFill>
            <a:srgbClr val="FFFFFF"/>
          </a:solidFill>
          <a:ln w="6350">
            <a:solidFill>
              <a:srgbClr val="E2E8F0"/>
            </a:solidFill>
            <a:prstDash val="solid"/>
          </a:ln>
        </p:spPr>
      </p:sp>
      <p:sp>
        <p:nvSpPr>
          <p:cNvPr id="95" name="Text 93"/>
          <p:cNvSpPr/>
          <p:nvPr/>
        </p:nvSpPr>
        <p:spPr>
          <a:xfrm>
            <a:off x="374904" y="4462272"/>
            <a:ext cx="1280160" cy="36576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KMP</a:t>
            </a:r>
            <a:endParaRPr lang="en-US" sz="1100" dirty="0"/>
          </a:p>
        </p:txBody>
      </p:sp>
      <p:sp>
        <p:nvSpPr>
          <p:cNvPr id="96" name="Shape 94"/>
          <p:cNvSpPr/>
          <p:nvPr/>
        </p:nvSpPr>
        <p:spPr>
          <a:xfrm>
            <a:off x="1691640" y="4443984"/>
            <a:ext cx="1188720" cy="420624"/>
          </a:xfrm>
          <a:prstGeom prst="rect">
            <a:avLst/>
          </a:prstGeom>
          <a:solidFill>
            <a:srgbClr val="FFFFFF"/>
          </a:solidFill>
          <a:ln w="6350">
            <a:solidFill>
              <a:srgbClr val="E2E8F0"/>
            </a:solidFill>
            <a:prstDash val="solid"/>
          </a:ln>
        </p:spPr>
      </p:sp>
      <p:sp>
        <p:nvSpPr>
          <p:cNvPr id="97" name="Text 95"/>
          <p:cNvSpPr/>
          <p:nvPr/>
        </p:nvSpPr>
        <p:spPr>
          <a:xfrm>
            <a:off x="1746504" y="4462272"/>
            <a:ext cx="1097280" cy="365760"/>
          </a:xfrm>
          <a:prstGeom prst="rect">
            <a:avLst/>
          </a:prstGeom>
          <a:noFill/>
          <a:ln/>
        </p:spPr>
        <p:txBody>
          <a:bodyPr wrap="square" lIns="0" tIns="0" rIns="0" bIns="0" rtlCol="0" anchor="ctr"/>
          <a:lstStyle/>
          <a:p>
            <a:pPr marL="0" indent="0">
              <a:buNone/>
            </a:pPr>
            <a:r>
              <a:rPr lang="en-US" sz="1000" dirty="0">
                <a:solidFill>
                  <a:srgbClr val="1A2B4A"/>
                </a:solidFill>
                <a:latin typeface="Calibri" pitchFamily="34" charset="0"/>
                <a:ea typeface="Calibri" pitchFamily="34" charset="-122"/>
                <a:cs typeface="Calibri" pitchFamily="34" charset="-120"/>
              </a:rPr>
              <a:t>Kotlin</a:t>
            </a:r>
            <a:endParaRPr lang="en-US" sz="1000" dirty="0"/>
          </a:p>
        </p:txBody>
      </p:sp>
      <p:sp>
        <p:nvSpPr>
          <p:cNvPr id="98" name="Shape 96"/>
          <p:cNvSpPr/>
          <p:nvPr/>
        </p:nvSpPr>
        <p:spPr>
          <a:xfrm>
            <a:off x="2880360" y="4443984"/>
            <a:ext cx="1188720" cy="420624"/>
          </a:xfrm>
          <a:prstGeom prst="rect">
            <a:avLst/>
          </a:prstGeom>
          <a:solidFill>
            <a:srgbClr val="FFFFFF"/>
          </a:solidFill>
          <a:ln w="6350">
            <a:solidFill>
              <a:srgbClr val="E2E8F0"/>
            </a:solidFill>
            <a:prstDash val="solid"/>
          </a:ln>
        </p:spPr>
      </p:sp>
      <p:sp>
        <p:nvSpPr>
          <p:cNvPr id="99" name="Text 97"/>
          <p:cNvSpPr/>
          <p:nvPr/>
        </p:nvSpPr>
        <p:spPr>
          <a:xfrm>
            <a:off x="2935224" y="4462272"/>
            <a:ext cx="1097280" cy="365760"/>
          </a:xfrm>
          <a:prstGeom prst="rect">
            <a:avLst/>
          </a:prstGeom>
          <a:noFill/>
          <a:ln/>
        </p:spPr>
        <p:txBody>
          <a:bodyPr wrap="square" lIns="0" tIns="0" rIns="0" bIns="0" rtlCol="0" anchor="ctr"/>
          <a:lstStyle/>
          <a:p>
            <a:pPr marL="0" indent="0">
              <a:buNone/>
            </a:pPr>
            <a:r>
              <a:rPr lang="en-US" sz="1000" dirty="0">
                <a:solidFill>
                  <a:srgbClr val="1B6B3A"/>
                </a:solidFill>
                <a:latin typeface="Calibri" pitchFamily="34" charset="0"/>
                <a:ea typeface="Calibri" pitchFamily="34" charset="-122"/>
                <a:cs typeface="Calibri" pitchFamily="34" charset="-120"/>
              </a:rPr>
              <a:t>Very High</a:t>
            </a:r>
            <a:endParaRPr lang="en-US" sz="1000" dirty="0"/>
          </a:p>
        </p:txBody>
      </p:sp>
      <p:sp>
        <p:nvSpPr>
          <p:cNvPr id="100" name="Shape 98"/>
          <p:cNvSpPr/>
          <p:nvPr/>
        </p:nvSpPr>
        <p:spPr>
          <a:xfrm>
            <a:off x="4069080" y="4443984"/>
            <a:ext cx="914400" cy="420624"/>
          </a:xfrm>
          <a:prstGeom prst="rect">
            <a:avLst/>
          </a:prstGeom>
          <a:solidFill>
            <a:srgbClr val="FFFFFF"/>
          </a:solidFill>
          <a:ln w="6350">
            <a:solidFill>
              <a:srgbClr val="E2E8F0"/>
            </a:solidFill>
            <a:prstDash val="solid"/>
          </a:ln>
        </p:spPr>
      </p:sp>
      <p:sp>
        <p:nvSpPr>
          <p:cNvPr id="101" name="Text 99"/>
          <p:cNvSpPr/>
          <p:nvPr/>
        </p:nvSpPr>
        <p:spPr>
          <a:xfrm>
            <a:off x="4123944" y="4462272"/>
            <a:ext cx="822960" cy="365760"/>
          </a:xfrm>
          <a:prstGeom prst="rect">
            <a:avLst/>
          </a:prstGeom>
          <a:noFill/>
          <a:ln/>
        </p:spPr>
        <p:txBody>
          <a:bodyPr wrap="square" lIns="0" tIns="0" rIns="0" bIns="0" rtlCol="0" anchor="ctr"/>
          <a:lstStyle/>
          <a:p>
            <a:pPr marL="0" indent="0">
              <a:buNone/>
            </a:pPr>
            <a:r>
              <a:rPr lang="en-US" sz="1000" dirty="0">
                <a:solidFill>
                  <a:srgbClr val="7D6608"/>
                </a:solidFill>
                <a:latin typeface="Calibri" pitchFamily="34" charset="0"/>
                <a:ea typeface="Calibri" pitchFamily="34" charset="-122"/>
                <a:cs typeface="Calibri" pitchFamily="34" charset="-120"/>
              </a:rPr>
              <a:t>Mod–High</a:t>
            </a:r>
            <a:endParaRPr lang="en-US" sz="1000" dirty="0"/>
          </a:p>
        </p:txBody>
      </p:sp>
      <p:sp>
        <p:nvSpPr>
          <p:cNvPr id="102" name="Shape 100"/>
          <p:cNvSpPr/>
          <p:nvPr/>
        </p:nvSpPr>
        <p:spPr>
          <a:xfrm>
            <a:off x="4983480" y="4443984"/>
            <a:ext cx="1371600" cy="420624"/>
          </a:xfrm>
          <a:prstGeom prst="rect">
            <a:avLst/>
          </a:prstGeom>
          <a:solidFill>
            <a:srgbClr val="FFFFFF"/>
          </a:solidFill>
          <a:ln w="6350">
            <a:solidFill>
              <a:srgbClr val="E2E8F0"/>
            </a:solidFill>
            <a:prstDash val="solid"/>
          </a:ln>
        </p:spPr>
      </p:sp>
      <p:sp>
        <p:nvSpPr>
          <p:cNvPr id="103" name="Text 101"/>
          <p:cNvSpPr/>
          <p:nvPr/>
        </p:nvSpPr>
        <p:spPr>
          <a:xfrm>
            <a:off x="5038344" y="4462272"/>
            <a:ext cx="128016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Fast</a:t>
            </a:r>
            <a:endParaRPr lang="en-US" sz="1000" dirty="0"/>
          </a:p>
        </p:txBody>
      </p:sp>
      <p:sp>
        <p:nvSpPr>
          <p:cNvPr id="104" name="Shape 102"/>
          <p:cNvSpPr/>
          <p:nvPr/>
        </p:nvSpPr>
        <p:spPr>
          <a:xfrm>
            <a:off x="6355080" y="4443984"/>
            <a:ext cx="1280160" cy="420624"/>
          </a:xfrm>
          <a:prstGeom prst="rect">
            <a:avLst/>
          </a:prstGeom>
          <a:solidFill>
            <a:srgbClr val="FFFFFF"/>
          </a:solidFill>
          <a:ln w="6350">
            <a:solidFill>
              <a:srgbClr val="E2E8F0"/>
            </a:solidFill>
            <a:prstDash val="solid"/>
          </a:ln>
        </p:spPr>
      </p:sp>
      <p:sp>
        <p:nvSpPr>
          <p:cNvPr id="105" name="Text 103"/>
          <p:cNvSpPr/>
          <p:nvPr/>
        </p:nvSpPr>
        <p:spPr>
          <a:xfrm>
            <a:off x="6409944" y="4462272"/>
            <a:ext cx="1188720" cy="365760"/>
          </a:xfrm>
          <a:prstGeom prst="rect">
            <a:avLst/>
          </a:prstGeom>
          <a:noFill/>
          <a:ln/>
        </p:spPr>
        <p:txBody>
          <a:bodyPr wrap="square" lIns="0" tIns="0" rIns="0" bIns="0" rtlCol="0" anchor="ctr"/>
          <a:lstStyle/>
          <a:p>
            <a:pPr marL="0" indent="0">
              <a:buNone/>
            </a:pPr>
            <a:r>
              <a:rPr lang="en-US" sz="1000" dirty="0">
                <a:solidFill>
                  <a:srgbClr val="1A4D2E"/>
                </a:solidFill>
                <a:latin typeface="Calibri" pitchFamily="34" charset="0"/>
                <a:ea typeface="Calibri" pitchFamily="34" charset="-122"/>
                <a:cs typeface="Calibri" pitchFamily="34" charset="-120"/>
              </a:rPr>
              <a:t>Strong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04</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App Architectures</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Architecture is the skeleton of an app — it determines how code is organized, maintained, and scaled.</a:t>
            </a:r>
            <a:endParaRPr lang="en-US" sz="1200" dirty="0"/>
          </a:p>
        </p:txBody>
      </p:sp>
      <p:sp>
        <p:nvSpPr>
          <p:cNvPr id="10" name="Shape 8"/>
          <p:cNvSpPr/>
          <p:nvPr/>
        </p:nvSpPr>
        <p:spPr>
          <a:xfrm>
            <a:off x="274320" y="1435608"/>
            <a:ext cx="2816352" cy="3246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1" name="Shape 9"/>
          <p:cNvSpPr/>
          <p:nvPr/>
        </p:nvSpPr>
        <p:spPr>
          <a:xfrm>
            <a:off x="274320" y="1435608"/>
            <a:ext cx="64008" cy="3246120"/>
          </a:xfrm>
          <a:prstGeom prst="rect">
            <a:avLst/>
          </a:prstGeom>
          <a:solidFill>
            <a:srgbClr val="C9A84C"/>
          </a:solidFill>
          <a:ln w="12700">
            <a:solidFill>
              <a:srgbClr val="C9A84C"/>
            </a:solidFill>
            <a:prstDash val="solid"/>
          </a:ln>
        </p:spPr>
      </p:sp>
      <p:sp>
        <p:nvSpPr>
          <p:cNvPr id="12" name="Shape 10"/>
          <p:cNvSpPr/>
          <p:nvPr/>
        </p:nvSpPr>
        <p:spPr>
          <a:xfrm>
            <a:off x="338328" y="1508760"/>
            <a:ext cx="2688336" cy="457200"/>
          </a:xfrm>
          <a:prstGeom prst="rect">
            <a:avLst/>
          </a:prstGeom>
          <a:solidFill>
            <a:srgbClr val="1A2B4A"/>
          </a:solidFill>
          <a:ln w="12700">
            <a:solidFill>
              <a:srgbClr val="1A2B4A"/>
            </a:solidFill>
            <a:prstDash val="solid"/>
          </a:ln>
        </p:spPr>
      </p:sp>
      <p:sp>
        <p:nvSpPr>
          <p:cNvPr id="13" name="Text 11"/>
          <p:cNvSpPr/>
          <p:nvPr/>
        </p:nvSpPr>
        <p:spPr>
          <a:xfrm>
            <a:off x="338328" y="1508760"/>
            <a:ext cx="2688336"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Georgia" pitchFamily="34" charset="0"/>
                <a:ea typeface="Georgia" pitchFamily="34" charset="-122"/>
                <a:cs typeface="Georgia" pitchFamily="34" charset="-120"/>
              </a:rPr>
              <a:t>MVC</a:t>
            </a:r>
            <a:endParaRPr lang="en-US" sz="2200" dirty="0"/>
          </a:p>
        </p:txBody>
      </p:sp>
      <p:sp>
        <p:nvSpPr>
          <p:cNvPr id="14" name="Text 12"/>
          <p:cNvSpPr/>
          <p:nvPr/>
        </p:nvSpPr>
        <p:spPr>
          <a:xfrm>
            <a:off x="402336" y="2048256"/>
            <a:ext cx="2615184" cy="329184"/>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Model · View · Controller</a:t>
            </a:r>
            <a:endParaRPr lang="en-US" sz="950" dirty="0"/>
          </a:p>
        </p:txBody>
      </p:sp>
      <p:sp>
        <p:nvSpPr>
          <p:cNvPr id="15" name="Shape 13"/>
          <p:cNvSpPr/>
          <p:nvPr/>
        </p:nvSpPr>
        <p:spPr>
          <a:xfrm>
            <a:off x="402336" y="2404872"/>
            <a:ext cx="2578608" cy="9144"/>
          </a:xfrm>
          <a:prstGeom prst="rect">
            <a:avLst/>
          </a:prstGeom>
          <a:solidFill>
            <a:srgbClr val="E2E8F0"/>
          </a:solidFill>
          <a:ln w="12700">
            <a:solidFill>
              <a:srgbClr val="E2E8F0"/>
            </a:solidFill>
            <a:prstDash val="solid"/>
          </a:ln>
        </p:spPr>
      </p:sp>
      <p:sp>
        <p:nvSpPr>
          <p:cNvPr id="16" name="Text 14"/>
          <p:cNvSpPr/>
          <p:nvPr/>
        </p:nvSpPr>
        <p:spPr>
          <a:xfrm>
            <a:off x="402336" y="2459736"/>
            <a:ext cx="2615184" cy="1417320"/>
          </a:xfrm>
          <a:prstGeom prst="rect">
            <a:avLst/>
          </a:prstGeom>
          <a:noFill/>
          <a:ln/>
        </p:spPr>
        <p:txBody>
          <a:bodyPr wrap="square" lIns="0" tIns="0" rIns="0" bIns="0" rtlCol="0" anchor="ctr"/>
          <a:lstStyle/>
          <a:p>
            <a:pPr marL="0" indent="0">
              <a:lnSpc>
                <a:spcPct val="130000"/>
              </a:lnSpc>
              <a:buNone/>
            </a:pPr>
            <a:r>
              <a:rPr lang="en-US" sz="1050" dirty="0">
                <a:solidFill>
                  <a:srgbClr val="1A2B4A"/>
                </a:solidFill>
                <a:latin typeface="Calibri" pitchFamily="34" charset="0"/>
                <a:ea typeface="Calibri" pitchFamily="34" charset="-122"/>
                <a:cs typeface="Calibri" pitchFamily="34" charset="-120"/>
              </a:rPr>
              <a:t>The Controller mediates between the Model (data) and View (UI). Best for medium-complexity apps. Apple's preferred iOS pattern.</a:t>
            </a:r>
            <a:endParaRPr lang="en-US" sz="1050" dirty="0"/>
          </a:p>
        </p:txBody>
      </p:sp>
      <p:sp>
        <p:nvSpPr>
          <p:cNvPr id="17" name="Shape 15"/>
          <p:cNvSpPr/>
          <p:nvPr/>
        </p:nvSpPr>
        <p:spPr>
          <a:xfrm>
            <a:off x="338328" y="4014216"/>
            <a:ext cx="2688336" cy="566928"/>
          </a:xfrm>
          <a:prstGeom prst="rect">
            <a:avLst/>
          </a:prstGeom>
          <a:solidFill>
            <a:srgbClr val="EEF2FF"/>
          </a:solidFill>
          <a:ln w="12700">
            <a:solidFill>
              <a:srgbClr val="E2E8F0"/>
            </a:solidFill>
            <a:prstDash val="solid"/>
          </a:ln>
        </p:spPr>
      </p:sp>
      <p:sp>
        <p:nvSpPr>
          <p:cNvPr id="18" name="Text 16"/>
          <p:cNvSpPr/>
          <p:nvPr/>
        </p:nvSpPr>
        <p:spPr>
          <a:xfrm>
            <a:off x="402336" y="4041648"/>
            <a:ext cx="2615184" cy="182880"/>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When to use:</a:t>
            </a:r>
            <a:endParaRPr lang="en-US" sz="900" dirty="0"/>
          </a:p>
        </p:txBody>
      </p:sp>
      <p:sp>
        <p:nvSpPr>
          <p:cNvPr id="19" name="Text 17"/>
          <p:cNvSpPr/>
          <p:nvPr/>
        </p:nvSpPr>
        <p:spPr>
          <a:xfrm>
            <a:off x="402336" y="4233672"/>
            <a:ext cx="2615184" cy="310896"/>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Use when your app is neither too large nor too small</a:t>
            </a:r>
            <a:endParaRPr lang="en-US" sz="950" dirty="0"/>
          </a:p>
        </p:txBody>
      </p:sp>
      <p:sp>
        <p:nvSpPr>
          <p:cNvPr id="20" name="Shape 18"/>
          <p:cNvSpPr/>
          <p:nvPr/>
        </p:nvSpPr>
        <p:spPr>
          <a:xfrm>
            <a:off x="3218688" y="1435608"/>
            <a:ext cx="2816352" cy="3246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1" name="Shape 19"/>
          <p:cNvSpPr/>
          <p:nvPr/>
        </p:nvSpPr>
        <p:spPr>
          <a:xfrm>
            <a:off x="3218688" y="1435608"/>
            <a:ext cx="64008" cy="3246120"/>
          </a:xfrm>
          <a:prstGeom prst="rect">
            <a:avLst/>
          </a:prstGeom>
          <a:solidFill>
            <a:srgbClr val="C9A84C"/>
          </a:solidFill>
          <a:ln w="12700">
            <a:solidFill>
              <a:srgbClr val="C9A84C"/>
            </a:solidFill>
            <a:prstDash val="solid"/>
          </a:ln>
        </p:spPr>
      </p:sp>
      <p:sp>
        <p:nvSpPr>
          <p:cNvPr id="22" name="Shape 20"/>
          <p:cNvSpPr/>
          <p:nvPr/>
        </p:nvSpPr>
        <p:spPr>
          <a:xfrm>
            <a:off x="3282696" y="1508760"/>
            <a:ext cx="2688336" cy="457200"/>
          </a:xfrm>
          <a:prstGeom prst="rect">
            <a:avLst/>
          </a:prstGeom>
          <a:solidFill>
            <a:srgbClr val="1A2B4A"/>
          </a:solidFill>
          <a:ln w="12700">
            <a:solidFill>
              <a:srgbClr val="1A2B4A"/>
            </a:solidFill>
            <a:prstDash val="solid"/>
          </a:ln>
        </p:spPr>
      </p:sp>
      <p:sp>
        <p:nvSpPr>
          <p:cNvPr id="23" name="Text 21"/>
          <p:cNvSpPr/>
          <p:nvPr/>
        </p:nvSpPr>
        <p:spPr>
          <a:xfrm>
            <a:off x="3282696" y="1508760"/>
            <a:ext cx="2688336"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Georgia" pitchFamily="34" charset="0"/>
                <a:ea typeface="Georgia" pitchFamily="34" charset="-122"/>
                <a:cs typeface="Georgia" pitchFamily="34" charset="-120"/>
              </a:rPr>
              <a:t>MVVM</a:t>
            </a:r>
            <a:endParaRPr lang="en-US" sz="2200" dirty="0"/>
          </a:p>
        </p:txBody>
      </p:sp>
      <p:sp>
        <p:nvSpPr>
          <p:cNvPr id="24" name="Text 22"/>
          <p:cNvSpPr/>
          <p:nvPr/>
        </p:nvSpPr>
        <p:spPr>
          <a:xfrm>
            <a:off x="3346704" y="2048256"/>
            <a:ext cx="2615184" cy="329184"/>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Model · View · ViewModel</a:t>
            </a:r>
            <a:endParaRPr lang="en-US" sz="950" dirty="0"/>
          </a:p>
        </p:txBody>
      </p:sp>
      <p:sp>
        <p:nvSpPr>
          <p:cNvPr id="25" name="Shape 23"/>
          <p:cNvSpPr/>
          <p:nvPr/>
        </p:nvSpPr>
        <p:spPr>
          <a:xfrm>
            <a:off x="3346704" y="2404872"/>
            <a:ext cx="2578608" cy="9144"/>
          </a:xfrm>
          <a:prstGeom prst="rect">
            <a:avLst/>
          </a:prstGeom>
          <a:solidFill>
            <a:srgbClr val="E2E8F0"/>
          </a:solidFill>
          <a:ln w="12700">
            <a:solidFill>
              <a:srgbClr val="E2E8F0"/>
            </a:solidFill>
            <a:prstDash val="solid"/>
          </a:ln>
        </p:spPr>
      </p:sp>
      <p:sp>
        <p:nvSpPr>
          <p:cNvPr id="26" name="Text 24"/>
          <p:cNvSpPr/>
          <p:nvPr/>
        </p:nvSpPr>
        <p:spPr>
          <a:xfrm>
            <a:off x="3346704" y="2459736"/>
            <a:ext cx="2615184" cy="1417320"/>
          </a:xfrm>
          <a:prstGeom prst="rect">
            <a:avLst/>
          </a:prstGeom>
          <a:noFill/>
          <a:ln/>
        </p:spPr>
        <p:txBody>
          <a:bodyPr wrap="square" lIns="0" tIns="0" rIns="0" bIns="0" rtlCol="0" anchor="ctr"/>
          <a:lstStyle/>
          <a:p>
            <a:pPr marL="0" indent="0">
              <a:lnSpc>
                <a:spcPct val="130000"/>
              </a:lnSpc>
              <a:buNone/>
            </a:pPr>
            <a:r>
              <a:rPr lang="en-US" sz="1050" dirty="0">
                <a:solidFill>
                  <a:srgbClr val="1A2B4A"/>
                </a:solidFill>
                <a:latin typeface="Calibri" pitchFamily="34" charset="0"/>
                <a:ea typeface="Calibri" pitchFamily="34" charset="-122"/>
                <a:cs typeface="Calibri" pitchFamily="34" charset="-120"/>
              </a:rPr>
              <a:t>The ViewModel bridges data and UI. Supports data binding. Excellent for complex UIs. Dominant in modern Android (Jetpack) and Flutter.</a:t>
            </a:r>
            <a:endParaRPr lang="en-US" sz="1050" dirty="0"/>
          </a:p>
        </p:txBody>
      </p:sp>
      <p:sp>
        <p:nvSpPr>
          <p:cNvPr id="27" name="Shape 25"/>
          <p:cNvSpPr/>
          <p:nvPr/>
        </p:nvSpPr>
        <p:spPr>
          <a:xfrm>
            <a:off x="3282696" y="4014216"/>
            <a:ext cx="2688336" cy="566928"/>
          </a:xfrm>
          <a:prstGeom prst="rect">
            <a:avLst/>
          </a:prstGeom>
          <a:solidFill>
            <a:srgbClr val="EEF2FF"/>
          </a:solidFill>
          <a:ln w="12700">
            <a:solidFill>
              <a:srgbClr val="E2E8F0"/>
            </a:solidFill>
            <a:prstDash val="solid"/>
          </a:ln>
        </p:spPr>
      </p:sp>
      <p:sp>
        <p:nvSpPr>
          <p:cNvPr id="28" name="Text 26"/>
          <p:cNvSpPr/>
          <p:nvPr/>
        </p:nvSpPr>
        <p:spPr>
          <a:xfrm>
            <a:off x="3346704" y="4041648"/>
            <a:ext cx="2615184" cy="182880"/>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When to use:</a:t>
            </a:r>
            <a:endParaRPr lang="en-US" sz="900" dirty="0"/>
          </a:p>
        </p:txBody>
      </p:sp>
      <p:sp>
        <p:nvSpPr>
          <p:cNvPr id="29" name="Text 27"/>
          <p:cNvSpPr/>
          <p:nvPr/>
        </p:nvSpPr>
        <p:spPr>
          <a:xfrm>
            <a:off x="3346704" y="4233672"/>
            <a:ext cx="2615184" cy="310896"/>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Use for complex UIs, data-binding frameworks, reactive apps</a:t>
            </a:r>
            <a:endParaRPr lang="en-US" sz="950" dirty="0"/>
          </a:p>
        </p:txBody>
      </p:sp>
      <p:sp>
        <p:nvSpPr>
          <p:cNvPr id="30" name="Shape 28"/>
          <p:cNvSpPr/>
          <p:nvPr/>
        </p:nvSpPr>
        <p:spPr>
          <a:xfrm>
            <a:off x="6163056" y="1435608"/>
            <a:ext cx="2816352" cy="324612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31" name="Shape 29"/>
          <p:cNvSpPr/>
          <p:nvPr/>
        </p:nvSpPr>
        <p:spPr>
          <a:xfrm>
            <a:off x="6163056" y="1435608"/>
            <a:ext cx="64008" cy="3246120"/>
          </a:xfrm>
          <a:prstGeom prst="rect">
            <a:avLst/>
          </a:prstGeom>
          <a:solidFill>
            <a:srgbClr val="C9A84C"/>
          </a:solidFill>
          <a:ln w="12700">
            <a:solidFill>
              <a:srgbClr val="C9A84C"/>
            </a:solidFill>
            <a:prstDash val="solid"/>
          </a:ln>
        </p:spPr>
      </p:sp>
      <p:sp>
        <p:nvSpPr>
          <p:cNvPr id="32" name="Shape 30"/>
          <p:cNvSpPr/>
          <p:nvPr/>
        </p:nvSpPr>
        <p:spPr>
          <a:xfrm>
            <a:off x="6227064" y="1508760"/>
            <a:ext cx="2688336" cy="457200"/>
          </a:xfrm>
          <a:prstGeom prst="rect">
            <a:avLst/>
          </a:prstGeom>
          <a:solidFill>
            <a:srgbClr val="1A2B4A"/>
          </a:solidFill>
          <a:ln w="12700">
            <a:solidFill>
              <a:srgbClr val="1A2B4A"/>
            </a:solidFill>
            <a:prstDash val="solid"/>
          </a:ln>
        </p:spPr>
      </p:sp>
      <p:sp>
        <p:nvSpPr>
          <p:cNvPr id="33" name="Text 31"/>
          <p:cNvSpPr/>
          <p:nvPr/>
        </p:nvSpPr>
        <p:spPr>
          <a:xfrm>
            <a:off x="6227064" y="1508760"/>
            <a:ext cx="2688336"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Georgia" pitchFamily="34" charset="0"/>
                <a:ea typeface="Georgia" pitchFamily="34" charset="-122"/>
                <a:cs typeface="Georgia" pitchFamily="34" charset="-120"/>
              </a:rPr>
              <a:t>VIPER</a:t>
            </a:r>
            <a:endParaRPr lang="en-US" sz="2200" dirty="0"/>
          </a:p>
        </p:txBody>
      </p:sp>
      <p:sp>
        <p:nvSpPr>
          <p:cNvPr id="34" name="Text 32"/>
          <p:cNvSpPr/>
          <p:nvPr/>
        </p:nvSpPr>
        <p:spPr>
          <a:xfrm>
            <a:off x="6291072" y="2048256"/>
            <a:ext cx="2615184" cy="329184"/>
          </a:xfrm>
          <a:prstGeom prst="rect">
            <a:avLst/>
          </a:prstGeom>
          <a:noFill/>
          <a:ln/>
        </p:spPr>
        <p:txBody>
          <a:bodyPr wrap="square" lIns="0" tIns="0" rIns="0" bIns="0" rtlCol="0" anchor="ctr"/>
          <a:lstStyle/>
          <a:p>
            <a:pPr marL="0" indent="0">
              <a:buNone/>
            </a:pPr>
            <a:r>
              <a:rPr lang="en-US" sz="950" b="1" dirty="0">
                <a:solidFill>
                  <a:srgbClr val="C9A84C"/>
                </a:solidFill>
                <a:latin typeface="Calibri" pitchFamily="34" charset="0"/>
                <a:ea typeface="Calibri" pitchFamily="34" charset="-122"/>
                <a:cs typeface="Calibri" pitchFamily="34" charset="-120"/>
              </a:rPr>
              <a:t>View · Interactor · Presenter · Entity · Router</a:t>
            </a:r>
            <a:endParaRPr lang="en-US" sz="950" dirty="0"/>
          </a:p>
        </p:txBody>
      </p:sp>
      <p:sp>
        <p:nvSpPr>
          <p:cNvPr id="35" name="Shape 33"/>
          <p:cNvSpPr/>
          <p:nvPr/>
        </p:nvSpPr>
        <p:spPr>
          <a:xfrm>
            <a:off x="6291072" y="2404872"/>
            <a:ext cx="2578608" cy="9144"/>
          </a:xfrm>
          <a:prstGeom prst="rect">
            <a:avLst/>
          </a:prstGeom>
          <a:solidFill>
            <a:srgbClr val="E2E8F0"/>
          </a:solidFill>
          <a:ln w="12700">
            <a:solidFill>
              <a:srgbClr val="E2E8F0"/>
            </a:solidFill>
            <a:prstDash val="solid"/>
          </a:ln>
        </p:spPr>
      </p:sp>
      <p:sp>
        <p:nvSpPr>
          <p:cNvPr id="36" name="Text 34"/>
          <p:cNvSpPr/>
          <p:nvPr/>
        </p:nvSpPr>
        <p:spPr>
          <a:xfrm>
            <a:off x="6291072" y="2459736"/>
            <a:ext cx="2615184" cy="1417320"/>
          </a:xfrm>
          <a:prstGeom prst="rect">
            <a:avLst/>
          </a:prstGeom>
          <a:noFill/>
          <a:ln/>
        </p:spPr>
        <p:txBody>
          <a:bodyPr wrap="square" lIns="0" tIns="0" rIns="0" bIns="0" rtlCol="0" anchor="ctr"/>
          <a:lstStyle/>
          <a:p>
            <a:pPr marL="0" indent="0">
              <a:lnSpc>
                <a:spcPct val="130000"/>
              </a:lnSpc>
              <a:buNone/>
            </a:pPr>
            <a:r>
              <a:rPr lang="en-US" sz="1050" dirty="0">
                <a:solidFill>
                  <a:srgbClr val="1A2B4A"/>
                </a:solidFill>
                <a:latin typeface="Calibri" pitchFamily="34" charset="0"/>
                <a:ea typeface="Calibri" pitchFamily="34" charset="-122"/>
                <a:cs typeface="Calibri" pitchFamily="34" charset="-120"/>
              </a:rPr>
              <a:t>Highly modular. Each component has one responsibility. Best for large teams where different parts of the app are built independently.</a:t>
            </a:r>
            <a:endParaRPr lang="en-US" sz="1050" dirty="0"/>
          </a:p>
        </p:txBody>
      </p:sp>
      <p:sp>
        <p:nvSpPr>
          <p:cNvPr id="37" name="Shape 35"/>
          <p:cNvSpPr/>
          <p:nvPr/>
        </p:nvSpPr>
        <p:spPr>
          <a:xfrm>
            <a:off x="6227064" y="4014216"/>
            <a:ext cx="2688336" cy="566928"/>
          </a:xfrm>
          <a:prstGeom prst="rect">
            <a:avLst/>
          </a:prstGeom>
          <a:solidFill>
            <a:srgbClr val="EEF2FF"/>
          </a:solidFill>
          <a:ln w="12700">
            <a:solidFill>
              <a:srgbClr val="E2E8F0"/>
            </a:solidFill>
            <a:prstDash val="solid"/>
          </a:ln>
        </p:spPr>
      </p:sp>
      <p:sp>
        <p:nvSpPr>
          <p:cNvPr id="38" name="Text 36"/>
          <p:cNvSpPr/>
          <p:nvPr/>
        </p:nvSpPr>
        <p:spPr>
          <a:xfrm>
            <a:off x="6291072" y="4041648"/>
            <a:ext cx="2615184" cy="182880"/>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When to use:</a:t>
            </a:r>
            <a:endParaRPr lang="en-US" sz="900" dirty="0"/>
          </a:p>
        </p:txBody>
      </p:sp>
      <p:sp>
        <p:nvSpPr>
          <p:cNvPr id="39" name="Text 37"/>
          <p:cNvSpPr/>
          <p:nvPr/>
        </p:nvSpPr>
        <p:spPr>
          <a:xfrm>
            <a:off x="6291072" y="4233672"/>
            <a:ext cx="2615184" cy="310896"/>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Use on large, scalable projects with multiple developers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04</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Design Patterns</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Design patterns are reusable solutions to common coding problems — proven blueprints, not templates.</a:t>
            </a:r>
            <a:endParaRPr lang="en-US" sz="1200" dirty="0"/>
          </a:p>
        </p:txBody>
      </p:sp>
      <p:sp>
        <p:nvSpPr>
          <p:cNvPr id="10" name="Shape 8"/>
          <p:cNvSpPr/>
          <p:nvPr/>
        </p:nvSpPr>
        <p:spPr>
          <a:xfrm>
            <a:off x="228600" y="144475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1" name="Shape 9"/>
          <p:cNvSpPr/>
          <p:nvPr/>
        </p:nvSpPr>
        <p:spPr>
          <a:xfrm>
            <a:off x="228600" y="1444752"/>
            <a:ext cx="2084832" cy="54864"/>
          </a:xfrm>
          <a:prstGeom prst="rect">
            <a:avLst/>
          </a:prstGeom>
          <a:solidFill>
            <a:srgbClr val="C9A84C"/>
          </a:solidFill>
          <a:ln w="12700">
            <a:solidFill>
              <a:srgbClr val="C9A84C"/>
            </a:solidFill>
            <a:prstDash val="solid"/>
          </a:ln>
        </p:spPr>
      </p:sp>
      <p:sp>
        <p:nvSpPr>
          <p:cNvPr id="12" name="Text 10"/>
          <p:cNvSpPr/>
          <p:nvPr/>
        </p:nvSpPr>
        <p:spPr>
          <a:xfrm>
            <a:off x="320040" y="153619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Singleton</a:t>
            </a:r>
            <a:endParaRPr lang="en-US" sz="1100" dirty="0"/>
          </a:p>
        </p:txBody>
      </p:sp>
      <p:sp>
        <p:nvSpPr>
          <p:cNvPr id="13" name="Shape 11"/>
          <p:cNvSpPr/>
          <p:nvPr/>
        </p:nvSpPr>
        <p:spPr>
          <a:xfrm>
            <a:off x="320040" y="1847088"/>
            <a:ext cx="1901952" cy="9144"/>
          </a:xfrm>
          <a:prstGeom prst="rect">
            <a:avLst/>
          </a:prstGeom>
          <a:solidFill>
            <a:srgbClr val="E2E8F0"/>
          </a:solidFill>
          <a:ln w="12700">
            <a:solidFill>
              <a:srgbClr val="E2E8F0"/>
            </a:solidFill>
            <a:prstDash val="solid"/>
          </a:ln>
        </p:spPr>
      </p:sp>
      <p:sp>
        <p:nvSpPr>
          <p:cNvPr id="14" name="Text 12"/>
          <p:cNvSpPr/>
          <p:nvPr/>
        </p:nvSpPr>
        <p:spPr>
          <a:xfrm>
            <a:off x="320040" y="190195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Ensures only one instance of a class exists globally. Useful for managing shared resources like a database connection or session manager.</a:t>
            </a:r>
            <a:endParaRPr lang="en-US" sz="900" dirty="0"/>
          </a:p>
        </p:txBody>
      </p:sp>
      <p:sp>
        <p:nvSpPr>
          <p:cNvPr id="15" name="Shape 13"/>
          <p:cNvSpPr/>
          <p:nvPr/>
        </p:nvSpPr>
        <p:spPr>
          <a:xfrm>
            <a:off x="2487168" y="144475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16" name="Shape 14"/>
          <p:cNvSpPr/>
          <p:nvPr/>
        </p:nvSpPr>
        <p:spPr>
          <a:xfrm>
            <a:off x="2487168" y="1444752"/>
            <a:ext cx="2084832" cy="54864"/>
          </a:xfrm>
          <a:prstGeom prst="rect">
            <a:avLst/>
          </a:prstGeom>
          <a:solidFill>
            <a:srgbClr val="C9A84C"/>
          </a:solidFill>
          <a:ln w="12700">
            <a:solidFill>
              <a:srgbClr val="C9A84C"/>
            </a:solidFill>
            <a:prstDash val="solid"/>
          </a:ln>
        </p:spPr>
      </p:sp>
      <p:sp>
        <p:nvSpPr>
          <p:cNvPr id="17" name="Text 15"/>
          <p:cNvSpPr/>
          <p:nvPr/>
        </p:nvSpPr>
        <p:spPr>
          <a:xfrm>
            <a:off x="2578608" y="153619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Factory Method</a:t>
            </a:r>
            <a:endParaRPr lang="en-US" sz="1100" dirty="0"/>
          </a:p>
        </p:txBody>
      </p:sp>
      <p:sp>
        <p:nvSpPr>
          <p:cNvPr id="18" name="Shape 16"/>
          <p:cNvSpPr/>
          <p:nvPr/>
        </p:nvSpPr>
        <p:spPr>
          <a:xfrm>
            <a:off x="2578608" y="1847088"/>
            <a:ext cx="1901952" cy="9144"/>
          </a:xfrm>
          <a:prstGeom prst="rect">
            <a:avLst/>
          </a:prstGeom>
          <a:solidFill>
            <a:srgbClr val="E2E8F0"/>
          </a:solidFill>
          <a:ln w="12700">
            <a:solidFill>
              <a:srgbClr val="E2E8F0"/>
            </a:solidFill>
            <a:prstDash val="solid"/>
          </a:ln>
        </p:spPr>
      </p:sp>
      <p:sp>
        <p:nvSpPr>
          <p:cNvPr id="19" name="Text 17"/>
          <p:cNvSpPr/>
          <p:nvPr/>
        </p:nvSpPr>
        <p:spPr>
          <a:xfrm>
            <a:off x="2578608" y="190195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Defines an interface for creating objects but lets subclasses decide the type. Great when objects share a common interface but differ in behaviour.</a:t>
            </a:r>
            <a:endParaRPr lang="en-US" sz="900" dirty="0"/>
          </a:p>
        </p:txBody>
      </p:sp>
      <p:sp>
        <p:nvSpPr>
          <p:cNvPr id="20" name="Shape 18"/>
          <p:cNvSpPr/>
          <p:nvPr/>
        </p:nvSpPr>
        <p:spPr>
          <a:xfrm>
            <a:off x="4745736" y="144475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1" name="Shape 19"/>
          <p:cNvSpPr/>
          <p:nvPr/>
        </p:nvSpPr>
        <p:spPr>
          <a:xfrm>
            <a:off x="4745736" y="1444752"/>
            <a:ext cx="2084832" cy="54864"/>
          </a:xfrm>
          <a:prstGeom prst="rect">
            <a:avLst/>
          </a:prstGeom>
          <a:solidFill>
            <a:srgbClr val="C9A84C"/>
          </a:solidFill>
          <a:ln w="12700">
            <a:solidFill>
              <a:srgbClr val="C9A84C"/>
            </a:solidFill>
            <a:prstDash val="solid"/>
          </a:ln>
        </p:spPr>
      </p:sp>
      <p:sp>
        <p:nvSpPr>
          <p:cNvPr id="22" name="Text 20"/>
          <p:cNvSpPr/>
          <p:nvPr/>
        </p:nvSpPr>
        <p:spPr>
          <a:xfrm>
            <a:off x="4837176" y="153619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Observer</a:t>
            </a:r>
            <a:endParaRPr lang="en-US" sz="1100" dirty="0"/>
          </a:p>
        </p:txBody>
      </p:sp>
      <p:sp>
        <p:nvSpPr>
          <p:cNvPr id="23" name="Shape 21"/>
          <p:cNvSpPr/>
          <p:nvPr/>
        </p:nvSpPr>
        <p:spPr>
          <a:xfrm>
            <a:off x="4837176" y="1847088"/>
            <a:ext cx="1901952" cy="9144"/>
          </a:xfrm>
          <a:prstGeom prst="rect">
            <a:avLst/>
          </a:prstGeom>
          <a:solidFill>
            <a:srgbClr val="E2E8F0"/>
          </a:solidFill>
          <a:ln w="12700">
            <a:solidFill>
              <a:srgbClr val="E2E8F0"/>
            </a:solidFill>
            <a:prstDash val="solid"/>
          </a:ln>
        </p:spPr>
      </p:sp>
      <p:sp>
        <p:nvSpPr>
          <p:cNvPr id="24" name="Text 22"/>
          <p:cNvSpPr/>
          <p:nvPr/>
        </p:nvSpPr>
        <p:spPr>
          <a:xfrm>
            <a:off x="4837176" y="190195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Defines one-to-many dependencies. When one object changes state, all dependents are notified automatically. Ideal for event-driven systems.</a:t>
            </a:r>
            <a:endParaRPr lang="en-US" sz="900" dirty="0"/>
          </a:p>
        </p:txBody>
      </p:sp>
      <p:sp>
        <p:nvSpPr>
          <p:cNvPr id="25" name="Shape 23"/>
          <p:cNvSpPr/>
          <p:nvPr/>
        </p:nvSpPr>
        <p:spPr>
          <a:xfrm>
            <a:off x="7004304" y="144475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26" name="Shape 24"/>
          <p:cNvSpPr/>
          <p:nvPr/>
        </p:nvSpPr>
        <p:spPr>
          <a:xfrm>
            <a:off x="7004304" y="1444752"/>
            <a:ext cx="2084832" cy="54864"/>
          </a:xfrm>
          <a:prstGeom prst="rect">
            <a:avLst/>
          </a:prstGeom>
          <a:solidFill>
            <a:srgbClr val="C9A84C"/>
          </a:solidFill>
          <a:ln w="12700">
            <a:solidFill>
              <a:srgbClr val="C9A84C"/>
            </a:solidFill>
            <a:prstDash val="solid"/>
          </a:ln>
        </p:spPr>
      </p:sp>
      <p:sp>
        <p:nvSpPr>
          <p:cNvPr id="27" name="Text 25"/>
          <p:cNvSpPr/>
          <p:nvPr/>
        </p:nvSpPr>
        <p:spPr>
          <a:xfrm>
            <a:off x="7095744" y="153619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Dependency Injection</a:t>
            </a:r>
            <a:endParaRPr lang="en-US" sz="1100" dirty="0"/>
          </a:p>
        </p:txBody>
      </p:sp>
      <p:sp>
        <p:nvSpPr>
          <p:cNvPr id="28" name="Shape 26"/>
          <p:cNvSpPr/>
          <p:nvPr/>
        </p:nvSpPr>
        <p:spPr>
          <a:xfrm>
            <a:off x="7095744" y="1847088"/>
            <a:ext cx="1901952" cy="9144"/>
          </a:xfrm>
          <a:prstGeom prst="rect">
            <a:avLst/>
          </a:prstGeom>
          <a:solidFill>
            <a:srgbClr val="E2E8F0"/>
          </a:solidFill>
          <a:ln w="12700">
            <a:solidFill>
              <a:srgbClr val="E2E8F0"/>
            </a:solidFill>
            <a:prstDash val="solid"/>
          </a:ln>
        </p:spPr>
      </p:sp>
      <p:sp>
        <p:nvSpPr>
          <p:cNvPr id="29" name="Text 27"/>
          <p:cNvSpPr/>
          <p:nvPr/>
        </p:nvSpPr>
        <p:spPr>
          <a:xfrm>
            <a:off x="7095744" y="190195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Dependencies are provided externally rather than created inside a class. Improves testability and modularity by decoupling components.</a:t>
            </a:r>
            <a:endParaRPr lang="en-US" sz="900" dirty="0"/>
          </a:p>
        </p:txBody>
      </p:sp>
      <p:sp>
        <p:nvSpPr>
          <p:cNvPr id="30" name="Shape 28"/>
          <p:cNvSpPr/>
          <p:nvPr/>
        </p:nvSpPr>
        <p:spPr>
          <a:xfrm>
            <a:off x="1353312" y="309067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31" name="Shape 29"/>
          <p:cNvSpPr/>
          <p:nvPr/>
        </p:nvSpPr>
        <p:spPr>
          <a:xfrm>
            <a:off x="1353312" y="3090672"/>
            <a:ext cx="2084832" cy="54864"/>
          </a:xfrm>
          <a:prstGeom prst="rect">
            <a:avLst/>
          </a:prstGeom>
          <a:solidFill>
            <a:srgbClr val="C9A84C"/>
          </a:solidFill>
          <a:ln w="12700">
            <a:solidFill>
              <a:srgbClr val="C9A84C"/>
            </a:solidFill>
            <a:prstDash val="solid"/>
          </a:ln>
        </p:spPr>
      </p:sp>
      <p:sp>
        <p:nvSpPr>
          <p:cNvPr id="32" name="Text 30"/>
          <p:cNvSpPr/>
          <p:nvPr/>
        </p:nvSpPr>
        <p:spPr>
          <a:xfrm>
            <a:off x="1444752" y="318211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Adapter</a:t>
            </a:r>
            <a:endParaRPr lang="en-US" sz="1100" dirty="0"/>
          </a:p>
        </p:txBody>
      </p:sp>
      <p:sp>
        <p:nvSpPr>
          <p:cNvPr id="33" name="Shape 31"/>
          <p:cNvSpPr/>
          <p:nvPr/>
        </p:nvSpPr>
        <p:spPr>
          <a:xfrm>
            <a:off x="1444752" y="3493008"/>
            <a:ext cx="1901952" cy="9144"/>
          </a:xfrm>
          <a:prstGeom prst="rect">
            <a:avLst/>
          </a:prstGeom>
          <a:solidFill>
            <a:srgbClr val="E2E8F0"/>
          </a:solidFill>
          <a:ln w="12700">
            <a:solidFill>
              <a:srgbClr val="E2E8F0"/>
            </a:solidFill>
            <a:prstDash val="solid"/>
          </a:ln>
        </p:spPr>
      </p:sp>
      <p:sp>
        <p:nvSpPr>
          <p:cNvPr id="34" name="Text 32"/>
          <p:cNvSpPr/>
          <p:nvPr/>
        </p:nvSpPr>
        <p:spPr>
          <a:xfrm>
            <a:off x="1444752" y="354787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Allows an existing class interface to work with another without modifying source code. Used when integrating third-party libraries or legacy code.</a:t>
            </a:r>
            <a:endParaRPr lang="en-US" sz="900" dirty="0"/>
          </a:p>
        </p:txBody>
      </p:sp>
      <p:sp>
        <p:nvSpPr>
          <p:cNvPr id="35" name="Shape 33"/>
          <p:cNvSpPr/>
          <p:nvPr/>
        </p:nvSpPr>
        <p:spPr>
          <a:xfrm>
            <a:off x="3611880" y="309067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36" name="Shape 34"/>
          <p:cNvSpPr/>
          <p:nvPr/>
        </p:nvSpPr>
        <p:spPr>
          <a:xfrm>
            <a:off x="3611880" y="3090672"/>
            <a:ext cx="2084832" cy="54864"/>
          </a:xfrm>
          <a:prstGeom prst="rect">
            <a:avLst/>
          </a:prstGeom>
          <a:solidFill>
            <a:srgbClr val="C9A84C"/>
          </a:solidFill>
          <a:ln w="12700">
            <a:solidFill>
              <a:srgbClr val="C9A84C"/>
            </a:solidFill>
            <a:prstDash val="solid"/>
          </a:ln>
        </p:spPr>
      </p:sp>
      <p:sp>
        <p:nvSpPr>
          <p:cNvPr id="37" name="Text 35"/>
          <p:cNvSpPr/>
          <p:nvPr/>
        </p:nvSpPr>
        <p:spPr>
          <a:xfrm>
            <a:off x="3703320" y="318211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Strategy</a:t>
            </a:r>
            <a:endParaRPr lang="en-US" sz="1100" dirty="0"/>
          </a:p>
        </p:txBody>
      </p:sp>
      <p:sp>
        <p:nvSpPr>
          <p:cNvPr id="38" name="Shape 36"/>
          <p:cNvSpPr/>
          <p:nvPr/>
        </p:nvSpPr>
        <p:spPr>
          <a:xfrm>
            <a:off x="3703320" y="3493008"/>
            <a:ext cx="1901952" cy="9144"/>
          </a:xfrm>
          <a:prstGeom prst="rect">
            <a:avLst/>
          </a:prstGeom>
          <a:solidFill>
            <a:srgbClr val="E2E8F0"/>
          </a:solidFill>
          <a:ln w="12700">
            <a:solidFill>
              <a:srgbClr val="E2E8F0"/>
            </a:solidFill>
            <a:prstDash val="solid"/>
          </a:ln>
        </p:spPr>
      </p:sp>
      <p:sp>
        <p:nvSpPr>
          <p:cNvPr id="39" name="Text 37"/>
          <p:cNvSpPr/>
          <p:nvPr/>
        </p:nvSpPr>
        <p:spPr>
          <a:xfrm>
            <a:off x="3703320" y="354787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Defines a family of algorithms and makes them interchangeable at runtime. Useful when multiple approaches exist for the same task.</a:t>
            </a:r>
            <a:endParaRPr lang="en-US" sz="900" dirty="0"/>
          </a:p>
        </p:txBody>
      </p:sp>
      <p:sp>
        <p:nvSpPr>
          <p:cNvPr id="40" name="Shape 38"/>
          <p:cNvSpPr/>
          <p:nvPr/>
        </p:nvSpPr>
        <p:spPr>
          <a:xfrm>
            <a:off x="5870448" y="3090672"/>
            <a:ext cx="2084832" cy="1508760"/>
          </a:xfrm>
          <a:prstGeom prst="rect">
            <a:avLst/>
          </a:prstGeom>
          <a:solidFill>
            <a:srgbClr val="FFFFFF"/>
          </a:solidFill>
          <a:ln w="12700">
            <a:solidFill>
              <a:srgbClr val="E2E8F0"/>
            </a:solidFill>
            <a:prstDash val="solid"/>
          </a:ln>
          <a:effectLst>
            <a:outerShdw blurRad="50800" dist="12700" dir="8100000" algn="bl" rotWithShape="0">
              <a:srgbClr val="000000">
                <a:alpha val="8000"/>
              </a:srgbClr>
            </a:outerShdw>
          </a:effectLst>
        </p:spPr>
      </p:sp>
      <p:sp>
        <p:nvSpPr>
          <p:cNvPr id="41" name="Shape 39"/>
          <p:cNvSpPr/>
          <p:nvPr/>
        </p:nvSpPr>
        <p:spPr>
          <a:xfrm>
            <a:off x="5870448" y="3090672"/>
            <a:ext cx="2084832" cy="54864"/>
          </a:xfrm>
          <a:prstGeom prst="rect">
            <a:avLst/>
          </a:prstGeom>
          <a:solidFill>
            <a:srgbClr val="C9A84C"/>
          </a:solidFill>
          <a:ln w="12700">
            <a:solidFill>
              <a:srgbClr val="C9A84C"/>
            </a:solidFill>
            <a:prstDash val="solid"/>
          </a:ln>
        </p:spPr>
      </p:sp>
      <p:sp>
        <p:nvSpPr>
          <p:cNvPr id="42" name="Text 40"/>
          <p:cNvSpPr/>
          <p:nvPr/>
        </p:nvSpPr>
        <p:spPr>
          <a:xfrm>
            <a:off x="5961888" y="3182112"/>
            <a:ext cx="1938528" cy="292608"/>
          </a:xfrm>
          <a:prstGeom prst="rect">
            <a:avLst/>
          </a:prstGeom>
          <a:noFill/>
          <a:ln/>
        </p:spPr>
        <p:txBody>
          <a:bodyPr wrap="square" lIns="0" tIns="0" rIns="0" bIns="0" rtlCol="0" anchor="ctr"/>
          <a:lstStyle/>
          <a:p>
            <a:pPr marL="0" indent="0">
              <a:buNone/>
            </a:pPr>
            <a:r>
              <a:rPr lang="en-US" sz="1100" b="1" dirty="0">
                <a:solidFill>
                  <a:srgbClr val="1A2B4A"/>
                </a:solidFill>
                <a:latin typeface="Georgia" pitchFamily="34" charset="0"/>
                <a:ea typeface="Georgia" pitchFamily="34" charset="-122"/>
                <a:cs typeface="Georgia" pitchFamily="34" charset="-120"/>
              </a:rPr>
              <a:t>Composite</a:t>
            </a:r>
            <a:endParaRPr lang="en-US" sz="1100" dirty="0"/>
          </a:p>
        </p:txBody>
      </p:sp>
      <p:sp>
        <p:nvSpPr>
          <p:cNvPr id="43" name="Shape 41"/>
          <p:cNvSpPr/>
          <p:nvPr/>
        </p:nvSpPr>
        <p:spPr>
          <a:xfrm>
            <a:off x="5961888" y="3493008"/>
            <a:ext cx="1901952" cy="9144"/>
          </a:xfrm>
          <a:prstGeom prst="rect">
            <a:avLst/>
          </a:prstGeom>
          <a:solidFill>
            <a:srgbClr val="E2E8F0"/>
          </a:solidFill>
          <a:ln w="12700">
            <a:solidFill>
              <a:srgbClr val="E2E8F0"/>
            </a:solidFill>
            <a:prstDash val="solid"/>
          </a:ln>
        </p:spPr>
      </p:sp>
      <p:sp>
        <p:nvSpPr>
          <p:cNvPr id="44" name="Text 42"/>
          <p:cNvSpPr/>
          <p:nvPr/>
        </p:nvSpPr>
        <p:spPr>
          <a:xfrm>
            <a:off x="5961888" y="3547872"/>
            <a:ext cx="1938528" cy="1005840"/>
          </a:xfrm>
          <a:prstGeom prst="rect">
            <a:avLst/>
          </a:prstGeom>
          <a:noFill/>
          <a:ln/>
        </p:spPr>
        <p:txBody>
          <a:bodyPr wrap="square" lIns="0" tIns="0" rIns="0" bIns="0" rtlCol="0" anchor="ctr"/>
          <a:lstStyle/>
          <a:p>
            <a:pPr marL="0" indent="0">
              <a:lnSpc>
                <a:spcPct val="125000"/>
              </a:lnSpc>
              <a:buNone/>
            </a:pPr>
            <a:r>
              <a:rPr lang="en-US" sz="900" dirty="0">
                <a:solidFill>
                  <a:srgbClr val="1A2B4A"/>
                </a:solidFill>
                <a:latin typeface="Calibri" pitchFamily="34" charset="0"/>
                <a:ea typeface="Calibri" pitchFamily="34" charset="-122"/>
                <a:cs typeface="Calibri" pitchFamily="34" charset="-120"/>
              </a:rPr>
              <a:t>Organises objects into tree structures to represent part-whole hierarchies. Helps handle individual objects and collections uniformly.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243557"/>
          </a:solidFill>
          <a:ln w="12700">
            <a:solidFill>
              <a:srgbClr val="243557"/>
            </a:solidFill>
            <a:prstDash val="solid"/>
          </a:ln>
        </p:spPr>
      </p:sp>
      <p:sp>
        <p:nvSpPr>
          <p:cNvPr id="3" name="Text 1"/>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4" name="Shape 2"/>
          <p:cNvSpPr/>
          <p:nvPr/>
        </p:nvSpPr>
        <p:spPr>
          <a:xfrm>
            <a:off x="0" y="0"/>
            <a:ext cx="411480" cy="5143500"/>
          </a:xfrm>
          <a:prstGeom prst="rect">
            <a:avLst/>
          </a:prstGeom>
          <a:solidFill>
            <a:srgbClr val="C9A84C"/>
          </a:solidFill>
          <a:ln w="12700">
            <a:solidFill>
              <a:srgbClr val="C9A84C"/>
            </a:solidFill>
            <a:prstDash val="solid"/>
          </a:ln>
        </p:spPr>
      </p:sp>
      <p:sp>
        <p:nvSpPr>
          <p:cNvPr id="5" name="Text 3"/>
          <p:cNvSpPr/>
          <p:nvPr/>
        </p:nvSpPr>
        <p:spPr>
          <a:xfrm>
            <a:off x="548640" y="457200"/>
            <a:ext cx="1097280" cy="640080"/>
          </a:xfrm>
          <a:prstGeom prst="rect">
            <a:avLst/>
          </a:prstGeom>
          <a:noFill/>
          <a:ln/>
        </p:spPr>
        <p:txBody>
          <a:bodyPr wrap="square" lIns="0" tIns="0" rIns="0" bIns="0" rtlCol="0" anchor="ctr"/>
          <a:lstStyle/>
          <a:p>
            <a:pPr marL="0" indent="0">
              <a:buNone/>
            </a:pPr>
            <a:r>
              <a:rPr lang="en-US" sz="3800" b="1" dirty="0">
                <a:solidFill>
                  <a:srgbClr val="C9A84C"/>
                </a:solidFill>
                <a:latin typeface="Georgia" pitchFamily="34" charset="0"/>
                <a:ea typeface="Georgia" pitchFamily="34" charset="-122"/>
                <a:cs typeface="Georgia" pitchFamily="34" charset="-120"/>
              </a:rPr>
              <a:t>05</a:t>
            </a:r>
            <a:endParaRPr lang="en-US" sz="3800" dirty="0"/>
          </a:p>
        </p:txBody>
      </p:sp>
      <p:sp>
        <p:nvSpPr>
          <p:cNvPr id="6" name="Text 4"/>
          <p:cNvSpPr/>
          <p:nvPr/>
        </p:nvSpPr>
        <p:spPr>
          <a:xfrm>
            <a:off x="548640" y="1097280"/>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Requirement Engineering</a:t>
            </a:r>
            <a:endParaRPr lang="en-US" sz="3200" dirty="0"/>
          </a:p>
        </p:txBody>
      </p:sp>
      <p:sp>
        <p:nvSpPr>
          <p:cNvPr id="7" name="Text 5"/>
          <p:cNvSpPr/>
          <p:nvPr/>
        </p:nvSpPr>
        <p:spPr>
          <a:xfrm>
            <a:off x="548640" y="1719072"/>
            <a:ext cx="8046720" cy="502920"/>
          </a:xfrm>
          <a:prstGeom prst="rect">
            <a:avLst/>
          </a:prstGeom>
          <a:noFill/>
          <a:ln/>
        </p:spPr>
        <p:txBody>
          <a:bodyPr wrap="square" lIns="0" tIns="0" rIns="0" bIns="0" rtlCol="0" anchor="ctr"/>
          <a:lstStyle/>
          <a:p>
            <a:pPr marL="0" indent="0">
              <a:lnSpc>
                <a:spcPct val="130000"/>
              </a:lnSpc>
              <a:buNone/>
            </a:pPr>
            <a:r>
              <a:rPr lang="en-US" sz="1400" i="1" dirty="0">
                <a:solidFill>
                  <a:srgbClr val="E8C96A"/>
                </a:solidFill>
                <a:latin typeface="Calibri" pitchFamily="34" charset="0"/>
                <a:ea typeface="Calibri" pitchFamily="34" charset="-122"/>
                <a:cs typeface="Calibri" pitchFamily="34" charset="-120"/>
              </a:rPr>
              <a:t>Before a single line of code is written, a team must answer: What exactly are we building, for whom, and why?</a:t>
            </a:r>
            <a:endParaRPr lang="en-US" sz="1400" dirty="0"/>
          </a:p>
        </p:txBody>
      </p:sp>
      <p:sp>
        <p:nvSpPr>
          <p:cNvPr id="8" name="Shape 6"/>
          <p:cNvSpPr/>
          <p:nvPr/>
        </p:nvSpPr>
        <p:spPr>
          <a:xfrm>
            <a:off x="548640" y="2423160"/>
            <a:ext cx="2606040" cy="2240280"/>
          </a:xfrm>
          <a:prstGeom prst="rect">
            <a:avLst/>
          </a:prstGeom>
          <a:solidFill>
            <a:srgbClr val="243557"/>
          </a:solidFill>
          <a:ln w="12700">
            <a:solidFill>
              <a:srgbClr val="C9A84C"/>
            </a:solidFill>
            <a:prstDash val="solid"/>
          </a:ln>
        </p:spPr>
      </p:sp>
      <p:sp>
        <p:nvSpPr>
          <p:cNvPr id="9" name="Shape 7"/>
          <p:cNvSpPr/>
          <p:nvPr/>
        </p:nvSpPr>
        <p:spPr>
          <a:xfrm>
            <a:off x="548640" y="2423160"/>
            <a:ext cx="2606040" cy="54864"/>
          </a:xfrm>
          <a:prstGeom prst="rect">
            <a:avLst/>
          </a:prstGeom>
          <a:solidFill>
            <a:srgbClr val="C9A84C"/>
          </a:solidFill>
          <a:ln w="12700">
            <a:solidFill>
              <a:srgbClr val="C9A84C"/>
            </a:solidFill>
            <a:prstDash val="solid"/>
          </a:ln>
        </p:spPr>
      </p:sp>
      <p:sp>
        <p:nvSpPr>
          <p:cNvPr id="10" name="Text 8"/>
          <p:cNvSpPr/>
          <p:nvPr/>
        </p:nvSpPr>
        <p:spPr>
          <a:xfrm>
            <a:off x="658368" y="2514600"/>
            <a:ext cx="2395728" cy="411480"/>
          </a:xfrm>
          <a:prstGeom prst="rect">
            <a:avLst/>
          </a:prstGeom>
          <a:noFill/>
          <a:ln/>
        </p:spPr>
        <p:txBody>
          <a:bodyPr wrap="square" lIns="0" tIns="0" rIns="0" bIns="0" rtlCol="0" anchor="ctr"/>
          <a:lstStyle/>
          <a:p>
            <a:pPr marL="0" indent="0">
              <a:buNone/>
            </a:pPr>
            <a:r>
              <a:rPr lang="en-US" sz="1200" b="1" dirty="0">
                <a:solidFill>
                  <a:srgbClr val="E8C96A"/>
                </a:solidFill>
                <a:latin typeface="Calibri" pitchFamily="34" charset="0"/>
                <a:ea typeface="Calibri" pitchFamily="34" charset="-122"/>
                <a:cs typeface="Calibri" pitchFamily="34" charset="-120"/>
              </a:rPr>
              <a:t>Business Requirements</a:t>
            </a:r>
            <a:endParaRPr lang="en-US" sz="1200" dirty="0"/>
          </a:p>
        </p:txBody>
      </p:sp>
      <p:sp>
        <p:nvSpPr>
          <p:cNvPr id="11" name="Text 9"/>
          <p:cNvSpPr/>
          <p:nvPr/>
        </p:nvSpPr>
        <p:spPr>
          <a:xfrm>
            <a:off x="658368" y="2999232"/>
            <a:ext cx="2395728" cy="1508760"/>
          </a:xfrm>
          <a:prstGeom prst="rect">
            <a:avLst/>
          </a:prstGeom>
          <a:noFill/>
          <a:ln/>
        </p:spPr>
        <p:txBody>
          <a:bodyPr wrap="square" lIns="0" tIns="0" rIns="0" bIns="0" rtlCol="0" anchor="ctr"/>
          <a:lstStyle/>
          <a:p>
            <a:pPr marL="0" indent="0">
              <a:lnSpc>
                <a:spcPct val="130000"/>
              </a:lnSpc>
              <a:buNone/>
            </a:pPr>
            <a:r>
              <a:rPr lang="en-US" sz="1100" dirty="0">
                <a:solidFill>
                  <a:srgbClr val="FFFFFF"/>
                </a:solidFill>
                <a:latin typeface="Calibri" pitchFamily="34" charset="0"/>
                <a:ea typeface="Calibri" pitchFamily="34" charset="-122"/>
                <a:cs typeface="Calibri" pitchFamily="34" charset="-120"/>
              </a:rPr>
              <a:t>High-level alignment with business goals, scope, and stakeholder identification.</a:t>
            </a:r>
            <a:endParaRPr lang="en-US" sz="1100" dirty="0"/>
          </a:p>
        </p:txBody>
      </p:sp>
      <p:sp>
        <p:nvSpPr>
          <p:cNvPr id="12" name="Shape 10"/>
          <p:cNvSpPr/>
          <p:nvPr/>
        </p:nvSpPr>
        <p:spPr>
          <a:xfrm>
            <a:off x="3383280" y="2423160"/>
            <a:ext cx="2606040" cy="2240280"/>
          </a:xfrm>
          <a:prstGeom prst="rect">
            <a:avLst/>
          </a:prstGeom>
          <a:solidFill>
            <a:srgbClr val="243557"/>
          </a:solidFill>
          <a:ln w="12700">
            <a:solidFill>
              <a:srgbClr val="C9A84C"/>
            </a:solidFill>
            <a:prstDash val="solid"/>
          </a:ln>
        </p:spPr>
      </p:sp>
      <p:sp>
        <p:nvSpPr>
          <p:cNvPr id="13" name="Shape 11"/>
          <p:cNvSpPr/>
          <p:nvPr/>
        </p:nvSpPr>
        <p:spPr>
          <a:xfrm>
            <a:off x="3383280" y="2423160"/>
            <a:ext cx="2606040" cy="54864"/>
          </a:xfrm>
          <a:prstGeom prst="rect">
            <a:avLst/>
          </a:prstGeom>
          <a:solidFill>
            <a:srgbClr val="C9A84C"/>
          </a:solidFill>
          <a:ln w="12700">
            <a:solidFill>
              <a:srgbClr val="C9A84C"/>
            </a:solidFill>
            <a:prstDash val="solid"/>
          </a:ln>
        </p:spPr>
      </p:sp>
      <p:sp>
        <p:nvSpPr>
          <p:cNvPr id="14" name="Text 12"/>
          <p:cNvSpPr/>
          <p:nvPr/>
        </p:nvSpPr>
        <p:spPr>
          <a:xfrm>
            <a:off x="3493008" y="2514600"/>
            <a:ext cx="2395728" cy="411480"/>
          </a:xfrm>
          <a:prstGeom prst="rect">
            <a:avLst/>
          </a:prstGeom>
          <a:noFill/>
          <a:ln/>
        </p:spPr>
        <p:txBody>
          <a:bodyPr wrap="square" lIns="0" tIns="0" rIns="0" bIns="0" rtlCol="0" anchor="ctr"/>
          <a:lstStyle/>
          <a:p>
            <a:pPr marL="0" indent="0">
              <a:buNone/>
            </a:pPr>
            <a:r>
              <a:rPr lang="en-US" sz="1200" b="1" dirty="0">
                <a:solidFill>
                  <a:srgbClr val="E8C96A"/>
                </a:solidFill>
                <a:latin typeface="Calibri" pitchFamily="34" charset="0"/>
                <a:ea typeface="Calibri" pitchFamily="34" charset="-122"/>
                <a:cs typeface="Calibri" pitchFamily="34" charset="-120"/>
              </a:rPr>
              <a:t>User Requirements</a:t>
            </a:r>
            <a:endParaRPr lang="en-US" sz="1200" dirty="0"/>
          </a:p>
        </p:txBody>
      </p:sp>
      <p:sp>
        <p:nvSpPr>
          <p:cNvPr id="15" name="Text 13"/>
          <p:cNvSpPr/>
          <p:nvPr/>
        </p:nvSpPr>
        <p:spPr>
          <a:xfrm>
            <a:off x="3493008" y="2999232"/>
            <a:ext cx="2395728" cy="1508760"/>
          </a:xfrm>
          <a:prstGeom prst="rect">
            <a:avLst/>
          </a:prstGeom>
          <a:noFill/>
          <a:ln/>
        </p:spPr>
        <p:txBody>
          <a:bodyPr wrap="square" lIns="0" tIns="0" rIns="0" bIns="0" rtlCol="0" anchor="ctr"/>
          <a:lstStyle/>
          <a:p>
            <a:pPr marL="0" indent="0">
              <a:lnSpc>
                <a:spcPct val="130000"/>
              </a:lnSpc>
              <a:buNone/>
            </a:pPr>
            <a:r>
              <a:rPr lang="en-US" sz="1100" dirty="0">
                <a:solidFill>
                  <a:srgbClr val="FFFFFF"/>
                </a:solidFill>
                <a:latin typeface="Calibri" pitchFamily="34" charset="0"/>
                <a:ea typeface="Calibri" pitchFamily="34" charset="-122"/>
                <a:cs typeface="Calibri" pitchFamily="34" charset="-120"/>
              </a:rPr>
              <a:t>Insights into what the target audience needs — problems, expectations, and user personas.</a:t>
            </a:r>
            <a:endParaRPr lang="en-US" sz="1100" dirty="0"/>
          </a:p>
        </p:txBody>
      </p:sp>
      <p:sp>
        <p:nvSpPr>
          <p:cNvPr id="16" name="Shape 14"/>
          <p:cNvSpPr/>
          <p:nvPr/>
        </p:nvSpPr>
        <p:spPr>
          <a:xfrm>
            <a:off x="6217920" y="2423160"/>
            <a:ext cx="2606040" cy="2240280"/>
          </a:xfrm>
          <a:prstGeom prst="rect">
            <a:avLst/>
          </a:prstGeom>
          <a:solidFill>
            <a:srgbClr val="243557"/>
          </a:solidFill>
          <a:ln w="12700">
            <a:solidFill>
              <a:srgbClr val="C9A84C"/>
            </a:solidFill>
            <a:prstDash val="solid"/>
          </a:ln>
        </p:spPr>
      </p:sp>
      <p:sp>
        <p:nvSpPr>
          <p:cNvPr id="17" name="Shape 15"/>
          <p:cNvSpPr/>
          <p:nvPr/>
        </p:nvSpPr>
        <p:spPr>
          <a:xfrm>
            <a:off x="6217920" y="2423160"/>
            <a:ext cx="2606040" cy="54864"/>
          </a:xfrm>
          <a:prstGeom prst="rect">
            <a:avLst/>
          </a:prstGeom>
          <a:solidFill>
            <a:srgbClr val="C9A84C"/>
          </a:solidFill>
          <a:ln w="12700">
            <a:solidFill>
              <a:srgbClr val="C9A84C"/>
            </a:solidFill>
            <a:prstDash val="solid"/>
          </a:ln>
        </p:spPr>
      </p:sp>
      <p:sp>
        <p:nvSpPr>
          <p:cNvPr id="18" name="Text 16"/>
          <p:cNvSpPr/>
          <p:nvPr/>
        </p:nvSpPr>
        <p:spPr>
          <a:xfrm>
            <a:off x="6327648" y="2514600"/>
            <a:ext cx="2395728" cy="411480"/>
          </a:xfrm>
          <a:prstGeom prst="rect">
            <a:avLst/>
          </a:prstGeom>
          <a:noFill/>
          <a:ln/>
        </p:spPr>
        <p:txBody>
          <a:bodyPr wrap="square" lIns="0" tIns="0" rIns="0" bIns="0" rtlCol="0" anchor="ctr"/>
          <a:lstStyle/>
          <a:p>
            <a:pPr marL="0" indent="0">
              <a:buNone/>
            </a:pPr>
            <a:r>
              <a:rPr lang="en-US" sz="1200" b="1" dirty="0">
                <a:solidFill>
                  <a:srgbClr val="E8C96A"/>
                </a:solidFill>
                <a:latin typeface="Calibri" pitchFamily="34" charset="0"/>
                <a:ea typeface="Calibri" pitchFamily="34" charset="-122"/>
                <a:cs typeface="Calibri" pitchFamily="34" charset="-120"/>
              </a:rPr>
              <a:t>System Requirements</a:t>
            </a:r>
            <a:endParaRPr lang="en-US" sz="1200" dirty="0"/>
          </a:p>
        </p:txBody>
      </p:sp>
      <p:sp>
        <p:nvSpPr>
          <p:cNvPr id="19" name="Text 17"/>
          <p:cNvSpPr/>
          <p:nvPr/>
        </p:nvSpPr>
        <p:spPr>
          <a:xfrm>
            <a:off x="6327648" y="2999232"/>
            <a:ext cx="2395728" cy="1508760"/>
          </a:xfrm>
          <a:prstGeom prst="rect">
            <a:avLst/>
          </a:prstGeom>
          <a:noFill/>
          <a:ln/>
        </p:spPr>
        <p:txBody>
          <a:bodyPr wrap="square" lIns="0" tIns="0" rIns="0" bIns="0" rtlCol="0" anchor="ctr"/>
          <a:lstStyle/>
          <a:p>
            <a:pPr marL="0" indent="0">
              <a:lnSpc>
                <a:spcPct val="130000"/>
              </a:lnSpc>
              <a:buNone/>
            </a:pPr>
            <a:r>
              <a:rPr lang="en-US" sz="1100" dirty="0">
                <a:solidFill>
                  <a:srgbClr val="FFFFFF"/>
                </a:solidFill>
                <a:latin typeface="Calibri" pitchFamily="34" charset="0"/>
                <a:ea typeface="Calibri" pitchFamily="34" charset="-122"/>
                <a:cs typeface="Calibri" pitchFamily="34" charset="-120"/>
              </a:rPr>
              <a:t>Functional and non-functional technical specs for the engineering team.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05</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10-Step Requirement Gathering Process</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 structured, iterative process — each step builds on the last to ensure the right product is built right.</a:t>
            </a:r>
            <a:endParaRPr lang="en-US" sz="1200" dirty="0"/>
          </a:p>
        </p:txBody>
      </p:sp>
      <p:sp>
        <p:nvSpPr>
          <p:cNvPr id="10" name="Shape 8"/>
          <p:cNvSpPr/>
          <p:nvPr/>
        </p:nvSpPr>
        <p:spPr>
          <a:xfrm>
            <a:off x="274320" y="1417320"/>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11" name="Shape 9"/>
          <p:cNvSpPr/>
          <p:nvPr/>
        </p:nvSpPr>
        <p:spPr>
          <a:xfrm>
            <a:off x="329184" y="1508760"/>
            <a:ext cx="402336" cy="402336"/>
          </a:xfrm>
          <a:prstGeom prst="rect">
            <a:avLst/>
          </a:prstGeom>
          <a:solidFill>
            <a:srgbClr val="C9A84C"/>
          </a:solidFill>
          <a:ln w="12700">
            <a:solidFill>
              <a:srgbClr val="C9A84C"/>
            </a:solidFill>
            <a:prstDash val="solid"/>
          </a:ln>
        </p:spPr>
      </p:sp>
      <p:sp>
        <p:nvSpPr>
          <p:cNvPr id="12" name="Text 10"/>
          <p:cNvSpPr/>
          <p:nvPr/>
        </p:nvSpPr>
        <p:spPr>
          <a:xfrm>
            <a:off x="329184"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3" name="Text 11"/>
          <p:cNvSpPr/>
          <p:nvPr/>
        </p:nvSpPr>
        <p:spPr>
          <a:xfrm>
            <a:off x="822960" y="1490472"/>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Define App Idea &amp; Purpose</a:t>
            </a:r>
            <a:endParaRPr lang="en-US" sz="1100" dirty="0"/>
          </a:p>
        </p:txBody>
      </p:sp>
      <p:sp>
        <p:nvSpPr>
          <p:cNvPr id="14" name="Text 12"/>
          <p:cNvSpPr/>
          <p:nvPr/>
        </p:nvSpPr>
        <p:spPr>
          <a:xfrm>
            <a:off x="822960" y="1746504"/>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Identify the problem the app solves.</a:t>
            </a:r>
            <a:endParaRPr lang="en-US" sz="950" dirty="0"/>
          </a:p>
        </p:txBody>
      </p:sp>
      <p:sp>
        <p:nvSpPr>
          <p:cNvPr id="15" name="Shape 13"/>
          <p:cNvSpPr/>
          <p:nvPr/>
        </p:nvSpPr>
        <p:spPr>
          <a:xfrm>
            <a:off x="274320" y="2112264"/>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16" name="Shape 14"/>
          <p:cNvSpPr/>
          <p:nvPr/>
        </p:nvSpPr>
        <p:spPr>
          <a:xfrm>
            <a:off x="329184" y="2203704"/>
            <a:ext cx="402336" cy="402336"/>
          </a:xfrm>
          <a:prstGeom prst="rect">
            <a:avLst/>
          </a:prstGeom>
          <a:solidFill>
            <a:srgbClr val="C9A84C"/>
          </a:solidFill>
          <a:ln w="12700">
            <a:solidFill>
              <a:srgbClr val="C9A84C"/>
            </a:solidFill>
            <a:prstDash val="solid"/>
          </a:ln>
        </p:spPr>
      </p:sp>
      <p:sp>
        <p:nvSpPr>
          <p:cNvPr id="17" name="Text 15"/>
          <p:cNvSpPr/>
          <p:nvPr/>
        </p:nvSpPr>
        <p:spPr>
          <a:xfrm>
            <a:off x="329184" y="22037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8" name="Text 16"/>
          <p:cNvSpPr/>
          <p:nvPr/>
        </p:nvSpPr>
        <p:spPr>
          <a:xfrm>
            <a:off x="822960" y="2185416"/>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Gather Business Objectives</a:t>
            </a:r>
            <a:endParaRPr lang="en-US" sz="1100" dirty="0"/>
          </a:p>
        </p:txBody>
      </p:sp>
      <p:sp>
        <p:nvSpPr>
          <p:cNvPr id="19" name="Text 17"/>
          <p:cNvSpPr/>
          <p:nvPr/>
        </p:nvSpPr>
        <p:spPr>
          <a:xfrm>
            <a:off x="822960" y="2441448"/>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Align with stakeholder goals and project scope.</a:t>
            </a:r>
            <a:endParaRPr lang="en-US" sz="950" dirty="0"/>
          </a:p>
        </p:txBody>
      </p:sp>
      <p:sp>
        <p:nvSpPr>
          <p:cNvPr id="20" name="Shape 18"/>
          <p:cNvSpPr/>
          <p:nvPr/>
        </p:nvSpPr>
        <p:spPr>
          <a:xfrm>
            <a:off x="274320" y="2807208"/>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21" name="Shape 19"/>
          <p:cNvSpPr/>
          <p:nvPr/>
        </p:nvSpPr>
        <p:spPr>
          <a:xfrm>
            <a:off x="329184" y="2898648"/>
            <a:ext cx="402336" cy="402336"/>
          </a:xfrm>
          <a:prstGeom prst="rect">
            <a:avLst/>
          </a:prstGeom>
          <a:solidFill>
            <a:srgbClr val="C9A84C"/>
          </a:solidFill>
          <a:ln w="12700">
            <a:solidFill>
              <a:srgbClr val="C9A84C"/>
            </a:solidFill>
            <a:prstDash val="solid"/>
          </a:ln>
        </p:spPr>
      </p:sp>
      <p:sp>
        <p:nvSpPr>
          <p:cNvPr id="22" name="Text 20"/>
          <p:cNvSpPr/>
          <p:nvPr/>
        </p:nvSpPr>
        <p:spPr>
          <a:xfrm>
            <a:off x="329184" y="289864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3" name="Text 21"/>
          <p:cNvSpPr/>
          <p:nvPr/>
        </p:nvSpPr>
        <p:spPr>
          <a:xfrm>
            <a:off x="822960" y="2880360"/>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Market &amp; Competitor Analysis</a:t>
            </a:r>
            <a:endParaRPr lang="en-US" sz="1100" dirty="0"/>
          </a:p>
        </p:txBody>
      </p:sp>
      <p:sp>
        <p:nvSpPr>
          <p:cNvPr id="24" name="Text 22"/>
          <p:cNvSpPr/>
          <p:nvPr/>
        </p:nvSpPr>
        <p:spPr>
          <a:xfrm>
            <a:off x="822960" y="3136392"/>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SWOT analysis, competitor research, unique advantage.</a:t>
            </a:r>
            <a:endParaRPr lang="en-US" sz="950" dirty="0"/>
          </a:p>
        </p:txBody>
      </p:sp>
      <p:sp>
        <p:nvSpPr>
          <p:cNvPr id="25" name="Shape 23"/>
          <p:cNvSpPr/>
          <p:nvPr/>
        </p:nvSpPr>
        <p:spPr>
          <a:xfrm>
            <a:off x="274320" y="3502152"/>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26" name="Shape 24"/>
          <p:cNvSpPr/>
          <p:nvPr/>
        </p:nvSpPr>
        <p:spPr>
          <a:xfrm>
            <a:off x="329184" y="3593592"/>
            <a:ext cx="402336" cy="402336"/>
          </a:xfrm>
          <a:prstGeom prst="rect">
            <a:avLst/>
          </a:prstGeom>
          <a:solidFill>
            <a:srgbClr val="C9A84C"/>
          </a:solidFill>
          <a:ln w="12700">
            <a:solidFill>
              <a:srgbClr val="C9A84C"/>
            </a:solidFill>
            <a:prstDash val="solid"/>
          </a:ln>
        </p:spPr>
      </p:sp>
      <p:sp>
        <p:nvSpPr>
          <p:cNvPr id="27" name="Text 25"/>
          <p:cNvSpPr/>
          <p:nvPr/>
        </p:nvSpPr>
        <p:spPr>
          <a:xfrm>
            <a:off x="329184" y="359359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8" name="Text 26"/>
          <p:cNvSpPr/>
          <p:nvPr/>
        </p:nvSpPr>
        <p:spPr>
          <a:xfrm>
            <a:off x="822960" y="3575304"/>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User Personas &amp; Scenarios</a:t>
            </a:r>
            <a:endParaRPr lang="en-US" sz="1100" dirty="0"/>
          </a:p>
        </p:txBody>
      </p:sp>
      <p:sp>
        <p:nvSpPr>
          <p:cNvPr id="29" name="Text 27"/>
          <p:cNvSpPr/>
          <p:nvPr/>
        </p:nvSpPr>
        <p:spPr>
          <a:xfrm>
            <a:off x="822960" y="3831336"/>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Fictionalise the ideal user — age, goals, frustrations.</a:t>
            </a:r>
            <a:endParaRPr lang="en-US" sz="950" dirty="0"/>
          </a:p>
        </p:txBody>
      </p:sp>
      <p:sp>
        <p:nvSpPr>
          <p:cNvPr id="30" name="Shape 28"/>
          <p:cNvSpPr/>
          <p:nvPr/>
        </p:nvSpPr>
        <p:spPr>
          <a:xfrm>
            <a:off x="274320" y="4197096"/>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31" name="Shape 29"/>
          <p:cNvSpPr/>
          <p:nvPr/>
        </p:nvSpPr>
        <p:spPr>
          <a:xfrm>
            <a:off x="329184" y="4288536"/>
            <a:ext cx="402336" cy="402336"/>
          </a:xfrm>
          <a:prstGeom prst="rect">
            <a:avLst/>
          </a:prstGeom>
          <a:solidFill>
            <a:srgbClr val="C9A84C"/>
          </a:solidFill>
          <a:ln w="12700">
            <a:solidFill>
              <a:srgbClr val="C9A84C"/>
            </a:solidFill>
            <a:prstDash val="solid"/>
          </a:ln>
        </p:spPr>
      </p:sp>
      <p:sp>
        <p:nvSpPr>
          <p:cNvPr id="32" name="Text 30"/>
          <p:cNvSpPr/>
          <p:nvPr/>
        </p:nvSpPr>
        <p:spPr>
          <a:xfrm>
            <a:off x="329184" y="428853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33" name="Text 31"/>
          <p:cNvSpPr/>
          <p:nvPr/>
        </p:nvSpPr>
        <p:spPr>
          <a:xfrm>
            <a:off x="822960" y="4270248"/>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Functional &amp; Non-Functional Reqs</a:t>
            </a:r>
            <a:endParaRPr lang="en-US" sz="1100" dirty="0"/>
          </a:p>
        </p:txBody>
      </p:sp>
      <p:sp>
        <p:nvSpPr>
          <p:cNvPr id="34" name="Text 32"/>
          <p:cNvSpPr/>
          <p:nvPr/>
        </p:nvSpPr>
        <p:spPr>
          <a:xfrm>
            <a:off x="822960" y="4526280"/>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MoSCoW: Must Have · Should Have · Could Have · Won't Have.</a:t>
            </a:r>
            <a:endParaRPr lang="en-US" sz="950" dirty="0"/>
          </a:p>
        </p:txBody>
      </p:sp>
      <p:sp>
        <p:nvSpPr>
          <p:cNvPr id="35" name="Shape 33"/>
          <p:cNvSpPr/>
          <p:nvPr/>
        </p:nvSpPr>
        <p:spPr>
          <a:xfrm>
            <a:off x="4736592" y="1417320"/>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36" name="Shape 34"/>
          <p:cNvSpPr/>
          <p:nvPr/>
        </p:nvSpPr>
        <p:spPr>
          <a:xfrm>
            <a:off x="4791456" y="1508760"/>
            <a:ext cx="402336" cy="402336"/>
          </a:xfrm>
          <a:prstGeom prst="rect">
            <a:avLst/>
          </a:prstGeom>
          <a:solidFill>
            <a:srgbClr val="C9A84C"/>
          </a:solidFill>
          <a:ln w="12700">
            <a:solidFill>
              <a:srgbClr val="C9A84C"/>
            </a:solidFill>
            <a:prstDash val="solid"/>
          </a:ln>
        </p:spPr>
      </p:sp>
      <p:sp>
        <p:nvSpPr>
          <p:cNvPr id="37" name="Text 35"/>
          <p:cNvSpPr/>
          <p:nvPr/>
        </p:nvSpPr>
        <p:spPr>
          <a:xfrm>
            <a:off x="4791456"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6</a:t>
            </a:r>
            <a:endParaRPr lang="en-US" sz="1300" dirty="0"/>
          </a:p>
        </p:txBody>
      </p:sp>
      <p:sp>
        <p:nvSpPr>
          <p:cNvPr id="38" name="Text 36"/>
          <p:cNvSpPr/>
          <p:nvPr/>
        </p:nvSpPr>
        <p:spPr>
          <a:xfrm>
            <a:off x="5285232" y="1490472"/>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Use Cases &amp; User Stories</a:t>
            </a:r>
            <a:endParaRPr lang="en-US" sz="1100" dirty="0"/>
          </a:p>
        </p:txBody>
      </p:sp>
      <p:sp>
        <p:nvSpPr>
          <p:cNvPr id="39" name="Text 37"/>
          <p:cNvSpPr/>
          <p:nvPr/>
        </p:nvSpPr>
        <p:spPr>
          <a:xfrm>
            <a:off x="5285232" y="1746504"/>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INVEST acronym — Independent, Negotiable, Valuable…</a:t>
            </a:r>
            <a:endParaRPr lang="en-US" sz="950" dirty="0"/>
          </a:p>
        </p:txBody>
      </p:sp>
      <p:sp>
        <p:nvSpPr>
          <p:cNvPr id="40" name="Shape 38"/>
          <p:cNvSpPr/>
          <p:nvPr/>
        </p:nvSpPr>
        <p:spPr>
          <a:xfrm>
            <a:off x="4736592" y="2112264"/>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41" name="Shape 39"/>
          <p:cNvSpPr/>
          <p:nvPr/>
        </p:nvSpPr>
        <p:spPr>
          <a:xfrm>
            <a:off x="4791456" y="2203704"/>
            <a:ext cx="402336" cy="402336"/>
          </a:xfrm>
          <a:prstGeom prst="rect">
            <a:avLst/>
          </a:prstGeom>
          <a:solidFill>
            <a:srgbClr val="C9A84C"/>
          </a:solidFill>
          <a:ln w="12700">
            <a:solidFill>
              <a:srgbClr val="C9A84C"/>
            </a:solidFill>
            <a:prstDash val="solid"/>
          </a:ln>
        </p:spPr>
      </p:sp>
      <p:sp>
        <p:nvSpPr>
          <p:cNvPr id="42" name="Text 40"/>
          <p:cNvSpPr/>
          <p:nvPr/>
        </p:nvSpPr>
        <p:spPr>
          <a:xfrm>
            <a:off x="4791456" y="22037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7</a:t>
            </a:r>
            <a:endParaRPr lang="en-US" sz="1300" dirty="0"/>
          </a:p>
        </p:txBody>
      </p:sp>
      <p:sp>
        <p:nvSpPr>
          <p:cNvPr id="43" name="Text 41"/>
          <p:cNvSpPr/>
          <p:nvPr/>
        </p:nvSpPr>
        <p:spPr>
          <a:xfrm>
            <a:off x="5285232" y="2185416"/>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Write Requirements Document</a:t>
            </a:r>
            <a:endParaRPr lang="en-US" sz="1100" dirty="0"/>
          </a:p>
        </p:txBody>
      </p:sp>
      <p:sp>
        <p:nvSpPr>
          <p:cNvPr id="44" name="Text 42"/>
          <p:cNvSpPr/>
          <p:nvPr/>
        </p:nvSpPr>
        <p:spPr>
          <a:xfrm>
            <a:off x="5285232" y="2441448"/>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Idea statement, navigation sequence, cost analysis, comms.</a:t>
            </a:r>
            <a:endParaRPr lang="en-US" sz="950" dirty="0"/>
          </a:p>
        </p:txBody>
      </p:sp>
      <p:sp>
        <p:nvSpPr>
          <p:cNvPr id="45" name="Shape 43"/>
          <p:cNvSpPr/>
          <p:nvPr/>
        </p:nvSpPr>
        <p:spPr>
          <a:xfrm>
            <a:off x="4736592" y="2807208"/>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46" name="Shape 44"/>
          <p:cNvSpPr/>
          <p:nvPr/>
        </p:nvSpPr>
        <p:spPr>
          <a:xfrm>
            <a:off x="4791456" y="2898648"/>
            <a:ext cx="402336" cy="402336"/>
          </a:xfrm>
          <a:prstGeom prst="rect">
            <a:avLst/>
          </a:prstGeom>
          <a:solidFill>
            <a:srgbClr val="C9A84C"/>
          </a:solidFill>
          <a:ln w="12700">
            <a:solidFill>
              <a:srgbClr val="C9A84C"/>
            </a:solidFill>
            <a:prstDash val="solid"/>
          </a:ln>
        </p:spPr>
      </p:sp>
      <p:sp>
        <p:nvSpPr>
          <p:cNvPr id="47" name="Text 45"/>
          <p:cNvSpPr/>
          <p:nvPr/>
        </p:nvSpPr>
        <p:spPr>
          <a:xfrm>
            <a:off x="4791456" y="289864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8</a:t>
            </a:r>
            <a:endParaRPr lang="en-US" sz="1300" dirty="0"/>
          </a:p>
        </p:txBody>
      </p:sp>
      <p:sp>
        <p:nvSpPr>
          <p:cNvPr id="48" name="Text 46"/>
          <p:cNvSpPr/>
          <p:nvPr/>
        </p:nvSpPr>
        <p:spPr>
          <a:xfrm>
            <a:off x="5285232" y="2880360"/>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Prototyping &amp; Wireframing</a:t>
            </a:r>
            <a:endParaRPr lang="en-US" sz="1100" dirty="0"/>
          </a:p>
        </p:txBody>
      </p:sp>
      <p:sp>
        <p:nvSpPr>
          <p:cNvPr id="49" name="Text 47"/>
          <p:cNvSpPr/>
          <p:nvPr/>
        </p:nvSpPr>
        <p:spPr>
          <a:xfrm>
            <a:off x="5285232" y="3136392"/>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Map user flow, sketch layout, connect pages, release prototype.</a:t>
            </a:r>
            <a:endParaRPr lang="en-US" sz="950" dirty="0"/>
          </a:p>
        </p:txBody>
      </p:sp>
      <p:sp>
        <p:nvSpPr>
          <p:cNvPr id="50" name="Shape 48"/>
          <p:cNvSpPr/>
          <p:nvPr/>
        </p:nvSpPr>
        <p:spPr>
          <a:xfrm>
            <a:off x="4736592" y="3502152"/>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51" name="Shape 49"/>
          <p:cNvSpPr/>
          <p:nvPr/>
        </p:nvSpPr>
        <p:spPr>
          <a:xfrm>
            <a:off x="4791456" y="3593592"/>
            <a:ext cx="402336" cy="402336"/>
          </a:xfrm>
          <a:prstGeom prst="rect">
            <a:avLst/>
          </a:prstGeom>
          <a:solidFill>
            <a:srgbClr val="C9A84C"/>
          </a:solidFill>
          <a:ln w="12700">
            <a:solidFill>
              <a:srgbClr val="C9A84C"/>
            </a:solidFill>
            <a:prstDash val="solid"/>
          </a:ln>
        </p:spPr>
      </p:sp>
      <p:sp>
        <p:nvSpPr>
          <p:cNvPr id="52" name="Text 50"/>
          <p:cNvSpPr/>
          <p:nvPr/>
        </p:nvSpPr>
        <p:spPr>
          <a:xfrm>
            <a:off x="4791456" y="359359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9</a:t>
            </a:r>
            <a:endParaRPr lang="en-US" sz="1300" dirty="0"/>
          </a:p>
        </p:txBody>
      </p:sp>
      <p:sp>
        <p:nvSpPr>
          <p:cNvPr id="53" name="Text 51"/>
          <p:cNvSpPr/>
          <p:nvPr/>
        </p:nvSpPr>
        <p:spPr>
          <a:xfrm>
            <a:off x="5285232" y="3575304"/>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Validate Requirements</a:t>
            </a:r>
            <a:endParaRPr lang="en-US" sz="1100" dirty="0"/>
          </a:p>
        </p:txBody>
      </p:sp>
      <p:sp>
        <p:nvSpPr>
          <p:cNvPr id="54" name="Text 52"/>
          <p:cNvSpPr/>
          <p:nvPr/>
        </p:nvSpPr>
        <p:spPr>
          <a:xfrm>
            <a:off x="5285232" y="3831336"/>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Stakeholder review against documented requirements.</a:t>
            </a:r>
            <a:endParaRPr lang="en-US" sz="950" dirty="0"/>
          </a:p>
        </p:txBody>
      </p:sp>
      <p:sp>
        <p:nvSpPr>
          <p:cNvPr id="55" name="Shape 53"/>
          <p:cNvSpPr/>
          <p:nvPr/>
        </p:nvSpPr>
        <p:spPr>
          <a:xfrm>
            <a:off x="4736592" y="4197096"/>
            <a:ext cx="4160520" cy="621792"/>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sp>
      <p:sp>
        <p:nvSpPr>
          <p:cNvPr id="56" name="Shape 54"/>
          <p:cNvSpPr/>
          <p:nvPr/>
        </p:nvSpPr>
        <p:spPr>
          <a:xfrm>
            <a:off x="4791456" y="4288536"/>
            <a:ext cx="402336" cy="402336"/>
          </a:xfrm>
          <a:prstGeom prst="rect">
            <a:avLst/>
          </a:prstGeom>
          <a:solidFill>
            <a:srgbClr val="C9A84C"/>
          </a:solidFill>
          <a:ln w="12700">
            <a:solidFill>
              <a:srgbClr val="C9A84C"/>
            </a:solidFill>
            <a:prstDash val="solid"/>
          </a:ln>
        </p:spPr>
      </p:sp>
      <p:sp>
        <p:nvSpPr>
          <p:cNvPr id="57" name="Text 55"/>
          <p:cNvSpPr/>
          <p:nvPr/>
        </p:nvSpPr>
        <p:spPr>
          <a:xfrm>
            <a:off x="4791456" y="428853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10</a:t>
            </a:r>
            <a:endParaRPr lang="en-US" sz="1300" dirty="0"/>
          </a:p>
        </p:txBody>
      </p:sp>
      <p:sp>
        <p:nvSpPr>
          <p:cNvPr id="58" name="Text 56"/>
          <p:cNvSpPr/>
          <p:nvPr/>
        </p:nvSpPr>
        <p:spPr>
          <a:xfrm>
            <a:off x="5285232" y="4270248"/>
            <a:ext cx="3493008" cy="237744"/>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Apply Agile Methodology</a:t>
            </a:r>
            <a:endParaRPr lang="en-US" sz="1100" dirty="0"/>
          </a:p>
        </p:txBody>
      </p:sp>
      <p:sp>
        <p:nvSpPr>
          <p:cNvPr id="59" name="Text 57"/>
          <p:cNvSpPr/>
          <p:nvPr/>
        </p:nvSpPr>
        <p:spPr>
          <a:xfrm>
            <a:off x="5285232" y="4526280"/>
            <a:ext cx="3493008"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Continuously adapt based on feedback, testing, and releases.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05</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Key RE Techniques: MoSCoW &amp; INVEST</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Two proven frameworks that bring discipline and clarity to the requirements process.</a:t>
            </a:r>
            <a:endParaRPr lang="en-US" sz="1200" dirty="0"/>
          </a:p>
        </p:txBody>
      </p:sp>
      <p:sp>
        <p:nvSpPr>
          <p:cNvPr id="10" name="Shape 8"/>
          <p:cNvSpPr/>
          <p:nvPr/>
        </p:nvSpPr>
        <p:spPr>
          <a:xfrm>
            <a:off x="274320" y="1417320"/>
            <a:ext cx="4160520" cy="347472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sp>
      <p:sp>
        <p:nvSpPr>
          <p:cNvPr id="11" name="Shape 9"/>
          <p:cNvSpPr/>
          <p:nvPr/>
        </p:nvSpPr>
        <p:spPr>
          <a:xfrm>
            <a:off x="274320" y="1417320"/>
            <a:ext cx="4160520" cy="457200"/>
          </a:xfrm>
          <a:prstGeom prst="rect">
            <a:avLst/>
          </a:prstGeom>
          <a:solidFill>
            <a:srgbClr val="1A2B4A"/>
          </a:solidFill>
          <a:ln w="12700">
            <a:solidFill>
              <a:srgbClr val="1A2B4A"/>
            </a:solidFill>
            <a:prstDash val="solid"/>
          </a:ln>
        </p:spPr>
      </p:sp>
      <p:sp>
        <p:nvSpPr>
          <p:cNvPr id="12" name="Text 10"/>
          <p:cNvSpPr/>
          <p:nvPr/>
        </p:nvSpPr>
        <p:spPr>
          <a:xfrm>
            <a:off x="411480" y="1417320"/>
            <a:ext cx="38862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MoSCoW Prioritisation</a:t>
            </a:r>
            <a:endParaRPr lang="en-US" sz="1400" dirty="0"/>
          </a:p>
        </p:txBody>
      </p:sp>
      <p:sp>
        <p:nvSpPr>
          <p:cNvPr id="13" name="Shape 11"/>
          <p:cNvSpPr/>
          <p:nvPr/>
        </p:nvSpPr>
        <p:spPr>
          <a:xfrm>
            <a:off x="347472" y="1984248"/>
            <a:ext cx="1005840" cy="603504"/>
          </a:xfrm>
          <a:prstGeom prst="rect">
            <a:avLst/>
          </a:prstGeom>
          <a:solidFill>
            <a:srgbClr val="C0392B"/>
          </a:solidFill>
          <a:ln w="12700">
            <a:solidFill>
              <a:srgbClr val="C0392B"/>
            </a:solidFill>
            <a:prstDash val="solid"/>
          </a:ln>
        </p:spPr>
      </p:sp>
      <p:sp>
        <p:nvSpPr>
          <p:cNvPr id="14" name="Text 12"/>
          <p:cNvSpPr/>
          <p:nvPr/>
        </p:nvSpPr>
        <p:spPr>
          <a:xfrm>
            <a:off x="347472" y="1984248"/>
            <a:ext cx="100584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Must Have</a:t>
            </a:r>
            <a:endParaRPr lang="en-US" sz="1000" dirty="0"/>
          </a:p>
        </p:txBody>
      </p:sp>
      <p:sp>
        <p:nvSpPr>
          <p:cNvPr id="15" name="Text 13"/>
          <p:cNvSpPr/>
          <p:nvPr/>
        </p:nvSpPr>
        <p:spPr>
          <a:xfrm>
            <a:off x="1426464" y="2057400"/>
            <a:ext cx="2880360" cy="457200"/>
          </a:xfrm>
          <a:prstGeom prst="rect">
            <a:avLst/>
          </a:prstGeom>
          <a:noFill/>
          <a:ln/>
        </p:spPr>
        <p:txBody>
          <a:bodyPr wrap="square" lIns="0" tIns="0" rIns="0" bIns="0" rtlCol="0" anchor="ctr"/>
          <a:lstStyle/>
          <a:p>
            <a:pPr marL="0" indent="0">
              <a:buNone/>
            </a:pPr>
            <a:r>
              <a:rPr lang="en-US" sz="1100" dirty="0">
                <a:solidFill>
                  <a:srgbClr val="1A2B4A"/>
                </a:solidFill>
                <a:latin typeface="Calibri" pitchFamily="34" charset="0"/>
                <a:ea typeface="Calibri" pitchFamily="34" charset="-122"/>
                <a:cs typeface="Calibri" pitchFamily="34" charset="-120"/>
              </a:rPr>
              <a:t>Critical requirements. Without these, the project fails.</a:t>
            </a:r>
            <a:endParaRPr lang="en-US" sz="1100" dirty="0"/>
          </a:p>
        </p:txBody>
      </p:sp>
      <p:sp>
        <p:nvSpPr>
          <p:cNvPr id="16" name="Shape 14"/>
          <p:cNvSpPr/>
          <p:nvPr/>
        </p:nvSpPr>
        <p:spPr>
          <a:xfrm>
            <a:off x="347472" y="2752344"/>
            <a:ext cx="1005840" cy="603504"/>
          </a:xfrm>
          <a:prstGeom prst="rect">
            <a:avLst/>
          </a:prstGeom>
          <a:solidFill>
            <a:srgbClr val="E67E22"/>
          </a:solidFill>
          <a:ln w="12700">
            <a:solidFill>
              <a:srgbClr val="E67E22"/>
            </a:solidFill>
            <a:prstDash val="solid"/>
          </a:ln>
        </p:spPr>
      </p:sp>
      <p:sp>
        <p:nvSpPr>
          <p:cNvPr id="17" name="Text 15"/>
          <p:cNvSpPr/>
          <p:nvPr/>
        </p:nvSpPr>
        <p:spPr>
          <a:xfrm>
            <a:off x="347472" y="2752344"/>
            <a:ext cx="100584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Should Have</a:t>
            </a:r>
            <a:endParaRPr lang="en-US" sz="1000" dirty="0"/>
          </a:p>
        </p:txBody>
      </p:sp>
      <p:sp>
        <p:nvSpPr>
          <p:cNvPr id="18" name="Text 16"/>
          <p:cNvSpPr/>
          <p:nvPr/>
        </p:nvSpPr>
        <p:spPr>
          <a:xfrm>
            <a:off x="1426464" y="2825496"/>
            <a:ext cx="2880360" cy="457200"/>
          </a:xfrm>
          <a:prstGeom prst="rect">
            <a:avLst/>
          </a:prstGeom>
          <a:noFill/>
          <a:ln/>
        </p:spPr>
        <p:txBody>
          <a:bodyPr wrap="square" lIns="0" tIns="0" rIns="0" bIns="0" rtlCol="0" anchor="ctr"/>
          <a:lstStyle/>
          <a:p>
            <a:pPr marL="0" indent="0">
              <a:buNone/>
            </a:pPr>
            <a:r>
              <a:rPr lang="en-US" sz="1100" dirty="0">
                <a:solidFill>
                  <a:srgbClr val="1A2B4A"/>
                </a:solidFill>
                <a:latin typeface="Calibri" pitchFamily="34" charset="0"/>
                <a:ea typeface="Calibri" pitchFamily="34" charset="-122"/>
                <a:cs typeface="Calibri" pitchFamily="34" charset="-120"/>
              </a:rPr>
              <a:t>Important but not show-stopping. Won't delay success if absent.</a:t>
            </a:r>
            <a:endParaRPr lang="en-US" sz="1100" dirty="0"/>
          </a:p>
        </p:txBody>
      </p:sp>
      <p:sp>
        <p:nvSpPr>
          <p:cNvPr id="19" name="Shape 17"/>
          <p:cNvSpPr/>
          <p:nvPr/>
        </p:nvSpPr>
        <p:spPr>
          <a:xfrm>
            <a:off x="347472" y="3520440"/>
            <a:ext cx="1005840" cy="603504"/>
          </a:xfrm>
          <a:prstGeom prst="rect">
            <a:avLst/>
          </a:prstGeom>
          <a:solidFill>
            <a:srgbClr val="27AE60"/>
          </a:solidFill>
          <a:ln w="12700">
            <a:solidFill>
              <a:srgbClr val="27AE60"/>
            </a:solidFill>
            <a:prstDash val="solid"/>
          </a:ln>
        </p:spPr>
      </p:sp>
      <p:sp>
        <p:nvSpPr>
          <p:cNvPr id="20" name="Text 18"/>
          <p:cNvSpPr/>
          <p:nvPr/>
        </p:nvSpPr>
        <p:spPr>
          <a:xfrm>
            <a:off x="347472" y="3520440"/>
            <a:ext cx="100584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Could Have</a:t>
            </a:r>
            <a:endParaRPr lang="en-US" sz="1000" dirty="0"/>
          </a:p>
        </p:txBody>
      </p:sp>
      <p:sp>
        <p:nvSpPr>
          <p:cNvPr id="21" name="Text 19"/>
          <p:cNvSpPr/>
          <p:nvPr/>
        </p:nvSpPr>
        <p:spPr>
          <a:xfrm>
            <a:off x="1426464" y="3593592"/>
            <a:ext cx="2880360" cy="457200"/>
          </a:xfrm>
          <a:prstGeom prst="rect">
            <a:avLst/>
          </a:prstGeom>
          <a:noFill/>
          <a:ln/>
        </p:spPr>
        <p:txBody>
          <a:bodyPr wrap="square" lIns="0" tIns="0" rIns="0" bIns="0" rtlCol="0" anchor="ctr"/>
          <a:lstStyle/>
          <a:p>
            <a:pPr marL="0" indent="0">
              <a:buNone/>
            </a:pPr>
            <a:r>
              <a:rPr lang="en-US" sz="1100" dirty="0">
                <a:solidFill>
                  <a:srgbClr val="1A2B4A"/>
                </a:solidFill>
                <a:latin typeface="Calibri" pitchFamily="34" charset="0"/>
                <a:ea typeface="Calibri" pitchFamily="34" charset="-122"/>
                <a:cs typeface="Calibri" pitchFamily="34" charset="-120"/>
              </a:rPr>
              <a:t>Nice-to-have enhancements. Add later based on user feedback.</a:t>
            </a:r>
            <a:endParaRPr lang="en-US" sz="1100" dirty="0"/>
          </a:p>
        </p:txBody>
      </p:sp>
      <p:sp>
        <p:nvSpPr>
          <p:cNvPr id="22" name="Shape 20"/>
          <p:cNvSpPr/>
          <p:nvPr/>
        </p:nvSpPr>
        <p:spPr>
          <a:xfrm>
            <a:off x="347472" y="4288536"/>
            <a:ext cx="1005840" cy="603504"/>
          </a:xfrm>
          <a:prstGeom prst="rect">
            <a:avLst/>
          </a:prstGeom>
          <a:solidFill>
            <a:srgbClr val="7F8C8D"/>
          </a:solidFill>
          <a:ln w="12700">
            <a:solidFill>
              <a:srgbClr val="7F8C8D"/>
            </a:solidFill>
            <a:prstDash val="solid"/>
          </a:ln>
        </p:spPr>
      </p:sp>
      <p:sp>
        <p:nvSpPr>
          <p:cNvPr id="23" name="Text 21"/>
          <p:cNvSpPr/>
          <p:nvPr/>
        </p:nvSpPr>
        <p:spPr>
          <a:xfrm>
            <a:off x="347472" y="4288536"/>
            <a:ext cx="100584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Won't Have</a:t>
            </a:r>
            <a:endParaRPr lang="en-US" sz="1000" dirty="0"/>
          </a:p>
        </p:txBody>
      </p:sp>
      <p:sp>
        <p:nvSpPr>
          <p:cNvPr id="24" name="Text 22"/>
          <p:cNvSpPr/>
          <p:nvPr/>
        </p:nvSpPr>
        <p:spPr>
          <a:xfrm>
            <a:off x="1426464" y="4361688"/>
            <a:ext cx="2880360" cy="457200"/>
          </a:xfrm>
          <a:prstGeom prst="rect">
            <a:avLst/>
          </a:prstGeom>
          <a:noFill/>
          <a:ln/>
        </p:spPr>
        <p:txBody>
          <a:bodyPr wrap="square" lIns="0" tIns="0" rIns="0" bIns="0" rtlCol="0" anchor="ctr"/>
          <a:lstStyle/>
          <a:p>
            <a:pPr marL="0" indent="0">
              <a:buNone/>
            </a:pPr>
            <a:r>
              <a:rPr lang="en-US" sz="1100" dirty="0">
                <a:solidFill>
                  <a:srgbClr val="1A2B4A"/>
                </a:solidFill>
                <a:latin typeface="Calibri" pitchFamily="34" charset="0"/>
                <a:ea typeface="Calibri" pitchFamily="34" charset="-122"/>
                <a:cs typeface="Calibri" pitchFamily="34" charset="-120"/>
              </a:rPr>
              <a:t>Low priority now. Acknowledged but out of current scope.</a:t>
            </a:r>
            <a:endParaRPr lang="en-US" sz="1100" dirty="0"/>
          </a:p>
        </p:txBody>
      </p:sp>
      <p:sp>
        <p:nvSpPr>
          <p:cNvPr id="25" name="Shape 23"/>
          <p:cNvSpPr/>
          <p:nvPr/>
        </p:nvSpPr>
        <p:spPr>
          <a:xfrm>
            <a:off x="4709160" y="1417320"/>
            <a:ext cx="4160520" cy="347472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sp>
      <p:sp>
        <p:nvSpPr>
          <p:cNvPr id="26" name="Shape 24"/>
          <p:cNvSpPr/>
          <p:nvPr/>
        </p:nvSpPr>
        <p:spPr>
          <a:xfrm>
            <a:off x="4709160" y="1417320"/>
            <a:ext cx="4160520" cy="457200"/>
          </a:xfrm>
          <a:prstGeom prst="rect">
            <a:avLst/>
          </a:prstGeom>
          <a:solidFill>
            <a:srgbClr val="1A2B4A"/>
          </a:solidFill>
          <a:ln w="12700">
            <a:solidFill>
              <a:srgbClr val="1A2B4A"/>
            </a:solidFill>
            <a:prstDash val="solid"/>
          </a:ln>
        </p:spPr>
      </p:sp>
      <p:sp>
        <p:nvSpPr>
          <p:cNvPr id="27" name="Text 25"/>
          <p:cNvSpPr/>
          <p:nvPr/>
        </p:nvSpPr>
        <p:spPr>
          <a:xfrm>
            <a:off x="4846320" y="1417320"/>
            <a:ext cx="3886200" cy="45720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INVEST User Stories</a:t>
            </a:r>
            <a:endParaRPr lang="en-US" sz="1400" dirty="0"/>
          </a:p>
        </p:txBody>
      </p:sp>
      <p:sp>
        <p:nvSpPr>
          <p:cNvPr id="28" name="Shape 26"/>
          <p:cNvSpPr/>
          <p:nvPr/>
        </p:nvSpPr>
        <p:spPr>
          <a:xfrm>
            <a:off x="4773168" y="1920240"/>
            <a:ext cx="384048" cy="402336"/>
          </a:xfrm>
          <a:prstGeom prst="rect">
            <a:avLst/>
          </a:prstGeom>
          <a:solidFill>
            <a:srgbClr val="C9A84C"/>
          </a:solidFill>
          <a:ln w="12700">
            <a:solidFill>
              <a:srgbClr val="C9A84C"/>
            </a:solidFill>
            <a:prstDash val="solid"/>
          </a:ln>
        </p:spPr>
      </p:sp>
      <p:sp>
        <p:nvSpPr>
          <p:cNvPr id="29" name="Text 27"/>
          <p:cNvSpPr/>
          <p:nvPr/>
        </p:nvSpPr>
        <p:spPr>
          <a:xfrm>
            <a:off x="4773168" y="1920240"/>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a:t>
            </a:r>
            <a:endParaRPr lang="en-US" sz="1600" dirty="0"/>
          </a:p>
        </p:txBody>
      </p:sp>
      <p:sp>
        <p:nvSpPr>
          <p:cNvPr id="30" name="Text 28"/>
          <p:cNvSpPr/>
          <p:nvPr/>
        </p:nvSpPr>
        <p:spPr>
          <a:xfrm>
            <a:off x="5230368" y="1938528"/>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Independent</a:t>
            </a:r>
            <a:endParaRPr lang="en-US" sz="1100" dirty="0"/>
          </a:p>
        </p:txBody>
      </p:sp>
      <p:sp>
        <p:nvSpPr>
          <p:cNvPr id="31" name="Text 29"/>
          <p:cNvSpPr/>
          <p:nvPr/>
        </p:nvSpPr>
        <p:spPr>
          <a:xfrm>
            <a:off x="5230368" y="2139696"/>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Stories must not depend on each other.</a:t>
            </a:r>
            <a:endParaRPr lang="en-US" sz="950" dirty="0"/>
          </a:p>
        </p:txBody>
      </p:sp>
      <p:sp>
        <p:nvSpPr>
          <p:cNvPr id="32" name="Shape 30"/>
          <p:cNvSpPr/>
          <p:nvPr/>
        </p:nvSpPr>
        <p:spPr>
          <a:xfrm>
            <a:off x="4773168" y="2386584"/>
            <a:ext cx="384048" cy="402336"/>
          </a:xfrm>
          <a:prstGeom prst="rect">
            <a:avLst/>
          </a:prstGeom>
          <a:solidFill>
            <a:srgbClr val="C9A84C"/>
          </a:solidFill>
          <a:ln w="12700">
            <a:solidFill>
              <a:srgbClr val="C9A84C"/>
            </a:solidFill>
            <a:prstDash val="solid"/>
          </a:ln>
        </p:spPr>
      </p:sp>
      <p:sp>
        <p:nvSpPr>
          <p:cNvPr id="33" name="Text 31"/>
          <p:cNvSpPr/>
          <p:nvPr/>
        </p:nvSpPr>
        <p:spPr>
          <a:xfrm>
            <a:off x="4773168" y="2386584"/>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N</a:t>
            </a:r>
            <a:endParaRPr lang="en-US" sz="1600" dirty="0"/>
          </a:p>
        </p:txBody>
      </p:sp>
      <p:sp>
        <p:nvSpPr>
          <p:cNvPr id="34" name="Text 32"/>
          <p:cNvSpPr/>
          <p:nvPr/>
        </p:nvSpPr>
        <p:spPr>
          <a:xfrm>
            <a:off x="5230368" y="2404872"/>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Negotiable</a:t>
            </a:r>
            <a:endParaRPr lang="en-US" sz="1100" dirty="0"/>
          </a:p>
        </p:txBody>
      </p:sp>
      <p:sp>
        <p:nvSpPr>
          <p:cNvPr id="35" name="Text 33"/>
          <p:cNvSpPr/>
          <p:nvPr/>
        </p:nvSpPr>
        <p:spPr>
          <a:xfrm>
            <a:off x="5230368" y="2606040"/>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'what' is fixed; the 'how' remains flexible.</a:t>
            </a:r>
            <a:endParaRPr lang="en-US" sz="950" dirty="0"/>
          </a:p>
        </p:txBody>
      </p:sp>
      <p:sp>
        <p:nvSpPr>
          <p:cNvPr id="36" name="Shape 34"/>
          <p:cNvSpPr/>
          <p:nvPr/>
        </p:nvSpPr>
        <p:spPr>
          <a:xfrm>
            <a:off x="4773168" y="2852928"/>
            <a:ext cx="384048" cy="402336"/>
          </a:xfrm>
          <a:prstGeom prst="rect">
            <a:avLst/>
          </a:prstGeom>
          <a:solidFill>
            <a:srgbClr val="C9A84C"/>
          </a:solidFill>
          <a:ln w="12700">
            <a:solidFill>
              <a:srgbClr val="C9A84C"/>
            </a:solidFill>
            <a:prstDash val="solid"/>
          </a:ln>
        </p:spPr>
      </p:sp>
      <p:sp>
        <p:nvSpPr>
          <p:cNvPr id="37" name="Text 35"/>
          <p:cNvSpPr/>
          <p:nvPr/>
        </p:nvSpPr>
        <p:spPr>
          <a:xfrm>
            <a:off x="4773168" y="2852928"/>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V</a:t>
            </a:r>
            <a:endParaRPr lang="en-US" sz="1600" dirty="0"/>
          </a:p>
        </p:txBody>
      </p:sp>
      <p:sp>
        <p:nvSpPr>
          <p:cNvPr id="38" name="Text 36"/>
          <p:cNvSpPr/>
          <p:nvPr/>
        </p:nvSpPr>
        <p:spPr>
          <a:xfrm>
            <a:off x="5230368" y="2871216"/>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Valuable</a:t>
            </a:r>
            <a:endParaRPr lang="en-US" sz="1100" dirty="0"/>
          </a:p>
        </p:txBody>
      </p:sp>
      <p:sp>
        <p:nvSpPr>
          <p:cNvPr id="39" name="Text 37"/>
          <p:cNvSpPr/>
          <p:nvPr/>
        </p:nvSpPr>
        <p:spPr>
          <a:xfrm>
            <a:off x="5230368" y="3072384"/>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Each story must deliver value to stakeholders.</a:t>
            </a:r>
            <a:endParaRPr lang="en-US" sz="950" dirty="0"/>
          </a:p>
        </p:txBody>
      </p:sp>
      <p:sp>
        <p:nvSpPr>
          <p:cNvPr id="40" name="Shape 38"/>
          <p:cNvSpPr/>
          <p:nvPr/>
        </p:nvSpPr>
        <p:spPr>
          <a:xfrm>
            <a:off x="4773168" y="3319272"/>
            <a:ext cx="384048" cy="402336"/>
          </a:xfrm>
          <a:prstGeom prst="rect">
            <a:avLst/>
          </a:prstGeom>
          <a:solidFill>
            <a:srgbClr val="C9A84C"/>
          </a:solidFill>
          <a:ln w="12700">
            <a:solidFill>
              <a:srgbClr val="C9A84C"/>
            </a:solidFill>
            <a:prstDash val="solid"/>
          </a:ln>
        </p:spPr>
      </p:sp>
      <p:sp>
        <p:nvSpPr>
          <p:cNvPr id="41" name="Text 39"/>
          <p:cNvSpPr/>
          <p:nvPr/>
        </p:nvSpPr>
        <p:spPr>
          <a:xfrm>
            <a:off x="4773168" y="3319272"/>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E</a:t>
            </a:r>
            <a:endParaRPr lang="en-US" sz="1600" dirty="0"/>
          </a:p>
        </p:txBody>
      </p:sp>
      <p:sp>
        <p:nvSpPr>
          <p:cNvPr id="42" name="Text 40"/>
          <p:cNvSpPr/>
          <p:nvPr/>
        </p:nvSpPr>
        <p:spPr>
          <a:xfrm>
            <a:off x="5230368" y="3337560"/>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Estimable</a:t>
            </a:r>
            <a:endParaRPr lang="en-US" sz="1100" dirty="0"/>
          </a:p>
        </p:txBody>
      </p:sp>
      <p:sp>
        <p:nvSpPr>
          <p:cNvPr id="43" name="Text 41"/>
          <p:cNvSpPr/>
          <p:nvPr/>
        </p:nvSpPr>
        <p:spPr>
          <a:xfrm>
            <a:off x="5230368" y="3538728"/>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The team must be able to size and plan each story.</a:t>
            </a:r>
            <a:endParaRPr lang="en-US" sz="950" dirty="0"/>
          </a:p>
        </p:txBody>
      </p:sp>
      <p:sp>
        <p:nvSpPr>
          <p:cNvPr id="44" name="Shape 42"/>
          <p:cNvSpPr/>
          <p:nvPr/>
        </p:nvSpPr>
        <p:spPr>
          <a:xfrm>
            <a:off x="4773168" y="3785616"/>
            <a:ext cx="384048" cy="402336"/>
          </a:xfrm>
          <a:prstGeom prst="rect">
            <a:avLst/>
          </a:prstGeom>
          <a:solidFill>
            <a:srgbClr val="C9A84C"/>
          </a:solidFill>
          <a:ln w="12700">
            <a:solidFill>
              <a:srgbClr val="C9A84C"/>
            </a:solidFill>
            <a:prstDash val="solid"/>
          </a:ln>
        </p:spPr>
      </p:sp>
      <p:sp>
        <p:nvSpPr>
          <p:cNvPr id="45" name="Text 43"/>
          <p:cNvSpPr/>
          <p:nvPr/>
        </p:nvSpPr>
        <p:spPr>
          <a:xfrm>
            <a:off x="4773168" y="3785616"/>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a:t>
            </a:r>
            <a:endParaRPr lang="en-US" sz="1600" dirty="0"/>
          </a:p>
        </p:txBody>
      </p:sp>
      <p:sp>
        <p:nvSpPr>
          <p:cNvPr id="46" name="Text 44"/>
          <p:cNvSpPr/>
          <p:nvPr/>
        </p:nvSpPr>
        <p:spPr>
          <a:xfrm>
            <a:off x="5230368" y="3803904"/>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Small</a:t>
            </a:r>
            <a:endParaRPr lang="en-US" sz="1100" dirty="0"/>
          </a:p>
        </p:txBody>
      </p:sp>
      <p:sp>
        <p:nvSpPr>
          <p:cNvPr id="47" name="Text 45"/>
          <p:cNvSpPr/>
          <p:nvPr/>
        </p:nvSpPr>
        <p:spPr>
          <a:xfrm>
            <a:off x="5230368" y="4005072"/>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Stories must fit within a single sprint.</a:t>
            </a:r>
            <a:endParaRPr lang="en-US" sz="950" dirty="0"/>
          </a:p>
        </p:txBody>
      </p:sp>
      <p:sp>
        <p:nvSpPr>
          <p:cNvPr id="48" name="Shape 46"/>
          <p:cNvSpPr/>
          <p:nvPr/>
        </p:nvSpPr>
        <p:spPr>
          <a:xfrm>
            <a:off x="4773168" y="4251960"/>
            <a:ext cx="384048" cy="402336"/>
          </a:xfrm>
          <a:prstGeom prst="rect">
            <a:avLst/>
          </a:prstGeom>
          <a:solidFill>
            <a:srgbClr val="C9A84C"/>
          </a:solidFill>
          <a:ln w="12700">
            <a:solidFill>
              <a:srgbClr val="C9A84C"/>
            </a:solidFill>
            <a:prstDash val="solid"/>
          </a:ln>
        </p:spPr>
      </p:sp>
      <p:sp>
        <p:nvSpPr>
          <p:cNvPr id="49" name="Text 47"/>
          <p:cNvSpPr/>
          <p:nvPr/>
        </p:nvSpPr>
        <p:spPr>
          <a:xfrm>
            <a:off x="4773168" y="4251960"/>
            <a:ext cx="38404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a:t>
            </a:r>
            <a:endParaRPr lang="en-US" sz="1600" dirty="0"/>
          </a:p>
        </p:txBody>
      </p:sp>
      <p:sp>
        <p:nvSpPr>
          <p:cNvPr id="50" name="Text 48"/>
          <p:cNvSpPr/>
          <p:nvPr/>
        </p:nvSpPr>
        <p:spPr>
          <a:xfrm>
            <a:off x="5230368" y="4270248"/>
            <a:ext cx="1097280" cy="201168"/>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Testable</a:t>
            </a:r>
            <a:endParaRPr lang="en-US" sz="1100" dirty="0"/>
          </a:p>
        </p:txBody>
      </p:sp>
      <p:sp>
        <p:nvSpPr>
          <p:cNvPr id="51" name="Text 49"/>
          <p:cNvSpPr/>
          <p:nvPr/>
        </p:nvSpPr>
        <p:spPr>
          <a:xfrm>
            <a:off x="5230368" y="4471416"/>
            <a:ext cx="3493008"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Acceptance criteria can be written immediately.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411480" y="73152"/>
            <a:ext cx="1005840" cy="768096"/>
          </a:xfrm>
          <a:prstGeom prst="rect">
            <a:avLst/>
          </a:prstGeom>
          <a:noFill/>
          <a:ln/>
        </p:spPr>
        <p:txBody>
          <a:bodyPr wrap="square" lIns="0" tIns="0" rIns="0" bIns="0" rtlCol="0" anchor="ctr"/>
          <a:lstStyle/>
          <a:p>
            <a:pPr marL="0" indent="0">
              <a:buNone/>
            </a:pPr>
            <a:r>
              <a:rPr lang="en-US" sz="2200" b="1" dirty="0">
                <a:solidFill>
                  <a:srgbClr val="C9A84C"/>
                </a:solidFill>
                <a:latin typeface="Georgia" pitchFamily="34" charset="0"/>
                <a:ea typeface="Georgia" pitchFamily="34" charset="-122"/>
                <a:cs typeface="Georgia" pitchFamily="34" charset="-120"/>
              </a:rPr>
              <a:t>06</a:t>
            </a:r>
            <a:endParaRPr lang="en-US" sz="2200" dirty="0"/>
          </a:p>
        </p:txBody>
      </p:sp>
      <p:sp>
        <p:nvSpPr>
          <p:cNvPr id="5" name="Shape 3"/>
          <p:cNvSpPr/>
          <p:nvPr/>
        </p:nvSpPr>
        <p:spPr>
          <a:xfrm>
            <a:off x="1417320" y="182880"/>
            <a:ext cx="36576" cy="548640"/>
          </a:xfrm>
          <a:prstGeom prst="rect">
            <a:avLst/>
          </a:prstGeom>
          <a:solidFill>
            <a:srgbClr val="E8C96A"/>
          </a:solidFill>
          <a:ln w="12700">
            <a:solidFill>
              <a:srgbClr val="E8C96A"/>
            </a:solidFill>
            <a:prstDash val="solid"/>
          </a:ln>
        </p:spPr>
      </p:sp>
      <p:sp>
        <p:nvSpPr>
          <p:cNvPr id="6" name="Text 4"/>
          <p:cNvSpPr/>
          <p:nvPr/>
        </p:nvSpPr>
        <p:spPr>
          <a:xfrm>
            <a:off x="1554480" y="0"/>
            <a:ext cx="7406640" cy="9144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Estimating Mobile App Development Cost</a:t>
            </a:r>
            <a:endParaRPr lang="en-US" sz="2400" dirty="0"/>
          </a:p>
        </p:txBody>
      </p:sp>
      <p:sp>
        <p:nvSpPr>
          <p:cNvPr id="7" name="Shape 5"/>
          <p:cNvSpPr/>
          <p:nvPr/>
        </p:nvSpPr>
        <p:spPr>
          <a:xfrm>
            <a:off x="0" y="4892040"/>
            <a:ext cx="9144000" cy="251460"/>
          </a:xfrm>
          <a:prstGeom prst="rect">
            <a:avLst/>
          </a:prstGeom>
          <a:solidFill>
            <a:srgbClr val="243557"/>
          </a:solidFill>
          <a:ln w="12700">
            <a:solidFill>
              <a:srgbClr val="243557"/>
            </a:solidFill>
            <a:prstDash val="solid"/>
          </a:ln>
        </p:spPr>
      </p:sp>
      <p:sp>
        <p:nvSpPr>
          <p:cNvPr id="8" name="Text 6"/>
          <p:cNvSpPr/>
          <p:nvPr/>
        </p:nvSpPr>
        <p:spPr>
          <a:xfrm>
            <a:off x="365760" y="4892040"/>
            <a:ext cx="8412480" cy="251460"/>
          </a:xfrm>
          <a:prstGeom prst="rect">
            <a:avLst/>
          </a:prstGeom>
          <a:noFill/>
          <a:ln/>
        </p:spPr>
        <p:txBody>
          <a:bodyPr wrap="square" lIns="0" tIns="0" rIns="0" bIns="0" rtlCol="0" anchor="ctr"/>
          <a:lstStyle/>
          <a:p>
            <a:pPr marL="0" indent="0" algn="ctr">
              <a:buNone/>
            </a:pPr>
            <a:r>
              <a:rPr lang="en-US" sz="1000" dirty="0">
                <a:solidFill>
                  <a:srgbClr val="E8C96A"/>
                </a:solidFill>
                <a:latin typeface="Calibri" pitchFamily="34" charset="0"/>
                <a:ea typeface="Calibri" pitchFamily="34" charset="-122"/>
                <a:cs typeface="Calibri" pitchFamily="34" charset="-120"/>
              </a:rPr>
              <a:t>CEF440  ·  Group 14  ·  University of Buea</a:t>
            </a:r>
            <a:endParaRPr lang="en-US" sz="1000" dirty="0"/>
          </a:p>
        </p:txBody>
      </p:sp>
      <p:sp>
        <p:nvSpPr>
          <p:cNvPr id="9" name="Text 7"/>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Cost is shaped by complexity, platform, team, and features — understanding this prevents budget surprises.</a:t>
            </a:r>
            <a:endParaRPr lang="en-US" sz="1200" dirty="0"/>
          </a:p>
        </p:txBody>
      </p:sp>
      <p:sp>
        <p:nvSpPr>
          <p:cNvPr id="10" name="Text 8"/>
          <p:cNvSpPr/>
          <p:nvPr/>
        </p:nvSpPr>
        <p:spPr>
          <a:xfrm>
            <a:off x="320040" y="1499616"/>
            <a:ext cx="196596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Planning &amp; Research</a:t>
            </a:r>
            <a:endParaRPr lang="en-US" sz="1100" dirty="0"/>
          </a:p>
        </p:txBody>
      </p:sp>
      <p:sp>
        <p:nvSpPr>
          <p:cNvPr id="11" name="Text 9"/>
          <p:cNvSpPr/>
          <p:nvPr/>
        </p:nvSpPr>
        <p:spPr>
          <a:xfrm>
            <a:off x="320040" y="1792224"/>
            <a:ext cx="196596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$5,000 – $10,000</a:t>
            </a:r>
            <a:endParaRPr lang="en-US" sz="950" dirty="0"/>
          </a:p>
        </p:txBody>
      </p:sp>
      <p:sp>
        <p:nvSpPr>
          <p:cNvPr id="12" name="Shape 10"/>
          <p:cNvSpPr/>
          <p:nvPr/>
        </p:nvSpPr>
        <p:spPr>
          <a:xfrm>
            <a:off x="2377440" y="1554480"/>
            <a:ext cx="5029200" cy="274320"/>
          </a:xfrm>
          <a:prstGeom prst="rect">
            <a:avLst/>
          </a:prstGeom>
          <a:solidFill>
            <a:srgbClr val="E2E8F0"/>
          </a:solidFill>
          <a:ln w="12700">
            <a:solidFill>
              <a:srgbClr val="E2E8F0"/>
            </a:solidFill>
            <a:prstDash val="solid"/>
          </a:ln>
        </p:spPr>
      </p:sp>
      <p:sp>
        <p:nvSpPr>
          <p:cNvPr id="13" name="Shape 11"/>
          <p:cNvSpPr/>
          <p:nvPr/>
        </p:nvSpPr>
        <p:spPr>
          <a:xfrm>
            <a:off x="2377440" y="1554480"/>
            <a:ext cx="402336" cy="274320"/>
          </a:xfrm>
          <a:prstGeom prst="rect">
            <a:avLst/>
          </a:prstGeom>
          <a:solidFill>
            <a:srgbClr val="5E81AC"/>
          </a:solidFill>
          <a:ln w="12700">
            <a:solidFill>
              <a:srgbClr val="5E81AC"/>
            </a:solidFill>
            <a:prstDash val="solid"/>
          </a:ln>
        </p:spPr>
      </p:sp>
      <p:sp>
        <p:nvSpPr>
          <p:cNvPr id="14" name="Text 12"/>
          <p:cNvSpPr/>
          <p:nvPr/>
        </p:nvSpPr>
        <p:spPr>
          <a:xfrm>
            <a:off x="2871216" y="1554480"/>
            <a:ext cx="457200" cy="27432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8%</a:t>
            </a:r>
            <a:endParaRPr lang="en-US" sz="1000" dirty="0"/>
          </a:p>
        </p:txBody>
      </p:sp>
      <p:sp>
        <p:nvSpPr>
          <p:cNvPr id="15" name="Text 13"/>
          <p:cNvSpPr/>
          <p:nvPr/>
        </p:nvSpPr>
        <p:spPr>
          <a:xfrm>
            <a:off x="7589520" y="1517904"/>
            <a:ext cx="1325880" cy="475488"/>
          </a:xfrm>
          <a:prstGeom prst="rect">
            <a:avLst/>
          </a:prstGeom>
          <a:noFill/>
          <a:ln/>
        </p:spPr>
        <p:txBody>
          <a:bodyPr wrap="square" lIns="0" tIns="0" rIns="0" bIns="0" rtlCol="0" anchor="ctr"/>
          <a:lstStyle/>
          <a:p>
            <a:pPr marL="0" indent="0">
              <a:lnSpc>
                <a:spcPct val="120000"/>
              </a:lnSpc>
              <a:buNone/>
            </a:pPr>
            <a:r>
              <a:rPr lang="en-US" sz="850" dirty="0">
                <a:solidFill>
                  <a:srgbClr val="64748B"/>
                </a:solidFill>
                <a:latin typeface="Calibri" pitchFamily="34" charset="0"/>
                <a:ea typeface="Calibri" pitchFamily="34" charset="-122"/>
                <a:cs typeface="Calibri" pitchFamily="34" charset="-120"/>
              </a:rPr>
              <a:t>Market research, competitor analysis, requirements definition</a:t>
            </a:r>
            <a:endParaRPr lang="en-US" sz="850" dirty="0"/>
          </a:p>
        </p:txBody>
      </p:sp>
      <p:sp>
        <p:nvSpPr>
          <p:cNvPr id="16" name="Text 14"/>
          <p:cNvSpPr/>
          <p:nvPr/>
        </p:nvSpPr>
        <p:spPr>
          <a:xfrm>
            <a:off x="320040" y="2176272"/>
            <a:ext cx="196596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UI/UX Design</a:t>
            </a:r>
            <a:endParaRPr lang="en-US" sz="1100" dirty="0"/>
          </a:p>
        </p:txBody>
      </p:sp>
      <p:sp>
        <p:nvSpPr>
          <p:cNvPr id="17" name="Text 15"/>
          <p:cNvSpPr/>
          <p:nvPr/>
        </p:nvSpPr>
        <p:spPr>
          <a:xfrm>
            <a:off x="320040" y="2468880"/>
            <a:ext cx="196596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$5,000 – $25,000</a:t>
            </a:r>
            <a:endParaRPr lang="en-US" sz="950" dirty="0"/>
          </a:p>
        </p:txBody>
      </p:sp>
      <p:sp>
        <p:nvSpPr>
          <p:cNvPr id="18" name="Shape 16"/>
          <p:cNvSpPr/>
          <p:nvPr/>
        </p:nvSpPr>
        <p:spPr>
          <a:xfrm>
            <a:off x="2377440" y="2231136"/>
            <a:ext cx="5029200" cy="274320"/>
          </a:xfrm>
          <a:prstGeom prst="rect">
            <a:avLst/>
          </a:prstGeom>
          <a:solidFill>
            <a:srgbClr val="E2E8F0"/>
          </a:solidFill>
          <a:ln w="12700">
            <a:solidFill>
              <a:srgbClr val="E2E8F0"/>
            </a:solidFill>
            <a:prstDash val="solid"/>
          </a:ln>
        </p:spPr>
      </p:sp>
      <p:sp>
        <p:nvSpPr>
          <p:cNvPr id="19" name="Shape 17"/>
          <p:cNvSpPr/>
          <p:nvPr/>
        </p:nvSpPr>
        <p:spPr>
          <a:xfrm>
            <a:off x="2377440" y="2231136"/>
            <a:ext cx="804672" cy="274320"/>
          </a:xfrm>
          <a:prstGeom prst="rect">
            <a:avLst/>
          </a:prstGeom>
          <a:solidFill>
            <a:srgbClr val="81A1C1"/>
          </a:solidFill>
          <a:ln w="12700">
            <a:solidFill>
              <a:srgbClr val="81A1C1"/>
            </a:solidFill>
            <a:prstDash val="solid"/>
          </a:ln>
        </p:spPr>
      </p:sp>
      <p:sp>
        <p:nvSpPr>
          <p:cNvPr id="20" name="Text 18"/>
          <p:cNvSpPr/>
          <p:nvPr/>
        </p:nvSpPr>
        <p:spPr>
          <a:xfrm>
            <a:off x="3273552" y="2231136"/>
            <a:ext cx="457200" cy="27432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16%</a:t>
            </a:r>
            <a:endParaRPr lang="en-US" sz="1000" dirty="0"/>
          </a:p>
        </p:txBody>
      </p:sp>
      <p:sp>
        <p:nvSpPr>
          <p:cNvPr id="21" name="Text 19"/>
          <p:cNvSpPr/>
          <p:nvPr/>
        </p:nvSpPr>
        <p:spPr>
          <a:xfrm>
            <a:off x="7589520" y="2194560"/>
            <a:ext cx="1325880" cy="475488"/>
          </a:xfrm>
          <a:prstGeom prst="rect">
            <a:avLst/>
          </a:prstGeom>
          <a:noFill/>
          <a:ln/>
        </p:spPr>
        <p:txBody>
          <a:bodyPr wrap="square" lIns="0" tIns="0" rIns="0" bIns="0" rtlCol="0" anchor="ctr"/>
          <a:lstStyle/>
          <a:p>
            <a:pPr marL="0" indent="0">
              <a:lnSpc>
                <a:spcPct val="120000"/>
              </a:lnSpc>
              <a:buNone/>
            </a:pPr>
            <a:r>
              <a:rPr lang="en-US" sz="850" dirty="0">
                <a:solidFill>
                  <a:srgbClr val="64748B"/>
                </a:solidFill>
                <a:latin typeface="Calibri" pitchFamily="34" charset="0"/>
                <a:ea typeface="Calibri" pitchFamily="34" charset="-122"/>
                <a:cs typeface="Calibri" pitchFamily="34" charset="-120"/>
              </a:rPr>
              <a:t>Wireframes, prototypes, and finalised design assets</a:t>
            </a:r>
            <a:endParaRPr lang="en-US" sz="850" dirty="0"/>
          </a:p>
        </p:txBody>
      </p:sp>
      <p:sp>
        <p:nvSpPr>
          <p:cNvPr id="22" name="Text 20"/>
          <p:cNvSpPr/>
          <p:nvPr/>
        </p:nvSpPr>
        <p:spPr>
          <a:xfrm>
            <a:off x="320040" y="2852928"/>
            <a:ext cx="196596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Development</a:t>
            </a:r>
            <a:endParaRPr lang="en-US" sz="1100" dirty="0"/>
          </a:p>
        </p:txBody>
      </p:sp>
      <p:sp>
        <p:nvSpPr>
          <p:cNvPr id="23" name="Text 21"/>
          <p:cNvSpPr/>
          <p:nvPr/>
        </p:nvSpPr>
        <p:spPr>
          <a:xfrm>
            <a:off x="320040" y="3145536"/>
            <a:ext cx="196596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$20,000 – $150,000</a:t>
            </a:r>
            <a:endParaRPr lang="en-US" sz="950" dirty="0"/>
          </a:p>
        </p:txBody>
      </p:sp>
      <p:sp>
        <p:nvSpPr>
          <p:cNvPr id="24" name="Shape 22"/>
          <p:cNvSpPr/>
          <p:nvPr/>
        </p:nvSpPr>
        <p:spPr>
          <a:xfrm>
            <a:off x="2377440" y="2907792"/>
            <a:ext cx="5029200" cy="274320"/>
          </a:xfrm>
          <a:prstGeom prst="rect">
            <a:avLst/>
          </a:prstGeom>
          <a:solidFill>
            <a:srgbClr val="E2E8F0"/>
          </a:solidFill>
          <a:ln w="12700">
            <a:solidFill>
              <a:srgbClr val="E2E8F0"/>
            </a:solidFill>
            <a:prstDash val="solid"/>
          </a:ln>
        </p:spPr>
      </p:sp>
      <p:sp>
        <p:nvSpPr>
          <p:cNvPr id="25" name="Shape 23"/>
          <p:cNvSpPr/>
          <p:nvPr/>
        </p:nvSpPr>
        <p:spPr>
          <a:xfrm>
            <a:off x="2377440" y="2907792"/>
            <a:ext cx="3118104" cy="274320"/>
          </a:xfrm>
          <a:prstGeom prst="rect">
            <a:avLst/>
          </a:prstGeom>
          <a:solidFill>
            <a:srgbClr val="C9A84C"/>
          </a:solidFill>
          <a:ln w="12700">
            <a:solidFill>
              <a:srgbClr val="C9A84C"/>
            </a:solidFill>
            <a:prstDash val="solid"/>
          </a:ln>
        </p:spPr>
      </p:sp>
      <p:sp>
        <p:nvSpPr>
          <p:cNvPr id="26" name="Text 24"/>
          <p:cNvSpPr/>
          <p:nvPr/>
        </p:nvSpPr>
        <p:spPr>
          <a:xfrm>
            <a:off x="5586984" y="2907792"/>
            <a:ext cx="457200" cy="27432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62%</a:t>
            </a:r>
            <a:endParaRPr lang="en-US" sz="1000" dirty="0"/>
          </a:p>
        </p:txBody>
      </p:sp>
      <p:sp>
        <p:nvSpPr>
          <p:cNvPr id="27" name="Text 25"/>
          <p:cNvSpPr/>
          <p:nvPr/>
        </p:nvSpPr>
        <p:spPr>
          <a:xfrm>
            <a:off x="7589520" y="2871216"/>
            <a:ext cx="1325880" cy="475488"/>
          </a:xfrm>
          <a:prstGeom prst="rect">
            <a:avLst/>
          </a:prstGeom>
          <a:noFill/>
          <a:ln/>
        </p:spPr>
        <p:txBody>
          <a:bodyPr wrap="square" lIns="0" tIns="0" rIns="0" bIns="0" rtlCol="0" anchor="ctr"/>
          <a:lstStyle/>
          <a:p>
            <a:pPr marL="0" indent="0">
              <a:lnSpc>
                <a:spcPct val="120000"/>
              </a:lnSpc>
              <a:buNone/>
            </a:pPr>
            <a:r>
              <a:rPr lang="en-US" sz="850" dirty="0">
                <a:solidFill>
                  <a:srgbClr val="64748B"/>
                </a:solidFill>
                <a:latin typeface="Calibri" pitchFamily="34" charset="0"/>
                <a:ea typeface="Calibri" pitchFamily="34" charset="-122"/>
                <a:cs typeface="Calibri" pitchFamily="34" charset="-120"/>
              </a:rPr>
              <a:t>Frontend, backend, database setup, APIs, integrations</a:t>
            </a:r>
            <a:endParaRPr lang="en-US" sz="850" dirty="0"/>
          </a:p>
        </p:txBody>
      </p:sp>
      <p:sp>
        <p:nvSpPr>
          <p:cNvPr id="28" name="Text 26"/>
          <p:cNvSpPr/>
          <p:nvPr/>
        </p:nvSpPr>
        <p:spPr>
          <a:xfrm>
            <a:off x="320040" y="3529584"/>
            <a:ext cx="196596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Testing &amp; QA</a:t>
            </a:r>
            <a:endParaRPr lang="en-US" sz="1100" dirty="0"/>
          </a:p>
        </p:txBody>
      </p:sp>
      <p:sp>
        <p:nvSpPr>
          <p:cNvPr id="29" name="Text 27"/>
          <p:cNvSpPr/>
          <p:nvPr/>
        </p:nvSpPr>
        <p:spPr>
          <a:xfrm>
            <a:off x="320040" y="3822192"/>
            <a:ext cx="196596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$5,000 – $20,000</a:t>
            </a:r>
            <a:endParaRPr lang="en-US" sz="950" dirty="0"/>
          </a:p>
        </p:txBody>
      </p:sp>
      <p:sp>
        <p:nvSpPr>
          <p:cNvPr id="30" name="Shape 28"/>
          <p:cNvSpPr/>
          <p:nvPr/>
        </p:nvSpPr>
        <p:spPr>
          <a:xfrm>
            <a:off x="2377440" y="3584448"/>
            <a:ext cx="5029200" cy="274320"/>
          </a:xfrm>
          <a:prstGeom prst="rect">
            <a:avLst/>
          </a:prstGeom>
          <a:solidFill>
            <a:srgbClr val="E2E8F0"/>
          </a:solidFill>
          <a:ln w="12700">
            <a:solidFill>
              <a:srgbClr val="E2E8F0"/>
            </a:solidFill>
            <a:prstDash val="solid"/>
          </a:ln>
        </p:spPr>
      </p:sp>
      <p:sp>
        <p:nvSpPr>
          <p:cNvPr id="31" name="Shape 29"/>
          <p:cNvSpPr/>
          <p:nvPr/>
        </p:nvSpPr>
        <p:spPr>
          <a:xfrm>
            <a:off x="2377440" y="3584448"/>
            <a:ext cx="502920" cy="274320"/>
          </a:xfrm>
          <a:prstGeom prst="rect">
            <a:avLst/>
          </a:prstGeom>
          <a:solidFill>
            <a:srgbClr val="8FBCBB"/>
          </a:solidFill>
          <a:ln w="12700">
            <a:solidFill>
              <a:srgbClr val="8FBCBB"/>
            </a:solidFill>
            <a:prstDash val="solid"/>
          </a:ln>
        </p:spPr>
      </p:sp>
      <p:sp>
        <p:nvSpPr>
          <p:cNvPr id="32" name="Text 30"/>
          <p:cNvSpPr/>
          <p:nvPr/>
        </p:nvSpPr>
        <p:spPr>
          <a:xfrm>
            <a:off x="2971800" y="3584448"/>
            <a:ext cx="457200" cy="27432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10%</a:t>
            </a:r>
            <a:endParaRPr lang="en-US" sz="1000" dirty="0"/>
          </a:p>
        </p:txBody>
      </p:sp>
      <p:sp>
        <p:nvSpPr>
          <p:cNvPr id="33" name="Text 31"/>
          <p:cNvSpPr/>
          <p:nvPr/>
        </p:nvSpPr>
        <p:spPr>
          <a:xfrm>
            <a:off x="7589520" y="3547872"/>
            <a:ext cx="1325880" cy="475488"/>
          </a:xfrm>
          <a:prstGeom prst="rect">
            <a:avLst/>
          </a:prstGeom>
          <a:noFill/>
          <a:ln/>
        </p:spPr>
        <p:txBody>
          <a:bodyPr wrap="square" lIns="0" tIns="0" rIns="0" bIns="0" rtlCol="0" anchor="ctr"/>
          <a:lstStyle/>
          <a:p>
            <a:pPr marL="0" indent="0">
              <a:lnSpc>
                <a:spcPct val="120000"/>
              </a:lnSpc>
              <a:buNone/>
            </a:pPr>
            <a:r>
              <a:rPr lang="en-US" sz="850" dirty="0">
                <a:solidFill>
                  <a:srgbClr val="64748B"/>
                </a:solidFill>
                <a:latin typeface="Calibri" pitchFamily="34" charset="0"/>
                <a:ea typeface="Calibri" pitchFamily="34" charset="-122"/>
                <a:cs typeface="Calibri" pitchFamily="34" charset="-120"/>
              </a:rPr>
              <a:t>Bug fixing, performance testing, cross-platform compatibility</a:t>
            </a:r>
            <a:endParaRPr lang="en-US" sz="850" dirty="0"/>
          </a:p>
        </p:txBody>
      </p:sp>
      <p:sp>
        <p:nvSpPr>
          <p:cNvPr id="34" name="Text 32"/>
          <p:cNvSpPr/>
          <p:nvPr/>
        </p:nvSpPr>
        <p:spPr>
          <a:xfrm>
            <a:off x="320040" y="4206240"/>
            <a:ext cx="1965960" cy="274320"/>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Deployment &amp; Maint.</a:t>
            </a:r>
            <a:endParaRPr lang="en-US" sz="1100" dirty="0"/>
          </a:p>
        </p:txBody>
      </p:sp>
      <p:sp>
        <p:nvSpPr>
          <p:cNvPr id="35" name="Text 33"/>
          <p:cNvSpPr/>
          <p:nvPr/>
        </p:nvSpPr>
        <p:spPr>
          <a:xfrm>
            <a:off x="320040" y="4498848"/>
            <a:ext cx="196596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$2,000+ · 15–20%/yr</a:t>
            </a:r>
            <a:endParaRPr lang="en-US" sz="950" dirty="0"/>
          </a:p>
        </p:txBody>
      </p:sp>
      <p:sp>
        <p:nvSpPr>
          <p:cNvPr id="36" name="Shape 34"/>
          <p:cNvSpPr/>
          <p:nvPr/>
        </p:nvSpPr>
        <p:spPr>
          <a:xfrm>
            <a:off x="2377440" y="4261104"/>
            <a:ext cx="5029200" cy="274320"/>
          </a:xfrm>
          <a:prstGeom prst="rect">
            <a:avLst/>
          </a:prstGeom>
          <a:solidFill>
            <a:srgbClr val="E2E8F0"/>
          </a:solidFill>
          <a:ln w="12700">
            <a:solidFill>
              <a:srgbClr val="E2E8F0"/>
            </a:solidFill>
            <a:prstDash val="solid"/>
          </a:ln>
        </p:spPr>
      </p:sp>
      <p:sp>
        <p:nvSpPr>
          <p:cNvPr id="37" name="Shape 35"/>
          <p:cNvSpPr/>
          <p:nvPr/>
        </p:nvSpPr>
        <p:spPr>
          <a:xfrm>
            <a:off x="2377440" y="4261104"/>
            <a:ext cx="201168" cy="274320"/>
          </a:xfrm>
          <a:prstGeom prst="rect">
            <a:avLst/>
          </a:prstGeom>
          <a:solidFill>
            <a:srgbClr val="6D9E8A"/>
          </a:solidFill>
          <a:ln w="12700">
            <a:solidFill>
              <a:srgbClr val="6D9E8A"/>
            </a:solidFill>
            <a:prstDash val="solid"/>
          </a:ln>
        </p:spPr>
      </p:sp>
      <p:sp>
        <p:nvSpPr>
          <p:cNvPr id="38" name="Text 36"/>
          <p:cNvSpPr/>
          <p:nvPr/>
        </p:nvSpPr>
        <p:spPr>
          <a:xfrm>
            <a:off x="2670048" y="4261104"/>
            <a:ext cx="457200" cy="27432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4%</a:t>
            </a:r>
            <a:endParaRPr lang="en-US" sz="1000" dirty="0"/>
          </a:p>
        </p:txBody>
      </p:sp>
      <p:sp>
        <p:nvSpPr>
          <p:cNvPr id="39" name="Text 37"/>
          <p:cNvSpPr/>
          <p:nvPr/>
        </p:nvSpPr>
        <p:spPr>
          <a:xfrm>
            <a:off x="7589520" y="4224528"/>
            <a:ext cx="1325880" cy="475488"/>
          </a:xfrm>
          <a:prstGeom prst="rect">
            <a:avLst/>
          </a:prstGeom>
          <a:noFill/>
          <a:ln/>
        </p:spPr>
        <p:txBody>
          <a:bodyPr wrap="square" lIns="0" tIns="0" rIns="0" bIns="0" rtlCol="0" anchor="ctr"/>
          <a:lstStyle/>
          <a:p>
            <a:pPr marL="0" indent="0">
              <a:lnSpc>
                <a:spcPct val="120000"/>
              </a:lnSpc>
              <a:buNone/>
            </a:pPr>
            <a:r>
              <a:rPr lang="en-US" sz="850" dirty="0">
                <a:solidFill>
                  <a:srgbClr val="64748B"/>
                </a:solidFill>
                <a:latin typeface="Calibri" pitchFamily="34" charset="0"/>
                <a:ea typeface="Calibri" pitchFamily="34" charset="-122"/>
                <a:cs typeface="Calibri" pitchFamily="34" charset="-120"/>
              </a:rPr>
              <a:t>App store launch + ongoing annual maintenance</a:t>
            </a:r>
            <a:endParaRPr lang="en-US" sz="850" dirty="0"/>
          </a:p>
        </p:txBody>
      </p:sp>
      <p:sp>
        <p:nvSpPr>
          <p:cNvPr id="40" name="Shape 38"/>
          <p:cNvSpPr/>
          <p:nvPr/>
        </p:nvSpPr>
        <p:spPr>
          <a:xfrm>
            <a:off x="274320" y="4645152"/>
            <a:ext cx="8595360" cy="182880"/>
          </a:xfrm>
          <a:prstGeom prst="rect">
            <a:avLst/>
          </a:prstGeom>
          <a:solidFill>
            <a:srgbClr val="1A2B4A"/>
          </a:solidFill>
          <a:ln w="12700">
            <a:solidFill>
              <a:srgbClr val="1A2B4A"/>
            </a:solidFill>
            <a:prstDash val="solid"/>
          </a:ln>
        </p:spPr>
      </p:sp>
      <p:sp>
        <p:nvSpPr>
          <p:cNvPr id="41" name="Text 39"/>
          <p:cNvSpPr/>
          <p:nvPr/>
        </p:nvSpPr>
        <p:spPr>
          <a:xfrm>
            <a:off x="274320" y="4645152"/>
            <a:ext cx="8595360" cy="182880"/>
          </a:xfrm>
          <a:prstGeom prst="rect">
            <a:avLst/>
          </a:prstGeom>
          <a:noFill/>
          <a:ln/>
        </p:spPr>
        <p:txBody>
          <a:bodyPr wrap="square" lIns="0" tIns="0" rIns="0" bIns="0" rtlCol="0" anchor="ctr"/>
          <a:lstStyle/>
          <a:p>
            <a:pPr marL="0" indent="0" algn="ctr">
              <a:buNone/>
            </a:pPr>
            <a:r>
              <a:rPr lang="en-US" sz="900" dirty="0">
                <a:solidFill>
                  <a:srgbClr val="E8C96A"/>
                </a:solidFill>
                <a:latin typeface="Calibri" pitchFamily="34" charset="0"/>
                <a:ea typeface="Calibri" pitchFamily="34" charset="-122"/>
                <a:cs typeface="Calibri" pitchFamily="34" charset="-120"/>
              </a:rPr>
              <a:t>Cost Optimisation Tips: Define requirements clearly · Start with an MVP · Use cross-platform frameworks · Plan maintenance budget early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9492"/>
            <a:ext cx="9144000" cy="64008"/>
          </a:xfrm>
          <a:prstGeom prst="rect">
            <a:avLst/>
          </a:prstGeom>
          <a:solidFill>
            <a:srgbClr val="C9A84C"/>
          </a:solidFill>
          <a:ln w="12700">
            <a:solidFill>
              <a:srgbClr val="C9A84C"/>
            </a:solidFill>
            <a:prstDash val="solid"/>
          </a:ln>
        </p:spPr>
      </p:sp>
      <p:sp>
        <p:nvSpPr>
          <p:cNvPr id="4" name="Text 2"/>
          <p:cNvSpPr/>
          <p:nvPr/>
        </p:nvSpPr>
        <p:spPr>
          <a:xfrm>
            <a:off x="548640" y="365760"/>
            <a:ext cx="7772400" cy="59436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Conclusion</a:t>
            </a:r>
            <a:endParaRPr lang="en-US" sz="3400" dirty="0"/>
          </a:p>
        </p:txBody>
      </p:sp>
      <p:sp>
        <p:nvSpPr>
          <p:cNvPr id="5" name="Shape 3"/>
          <p:cNvSpPr/>
          <p:nvPr/>
        </p:nvSpPr>
        <p:spPr>
          <a:xfrm>
            <a:off x="548640" y="987552"/>
            <a:ext cx="7772400" cy="36576"/>
          </a:xfrm>
          <a:prstGeom prst="rect">
            <a:avLst/>
          </a:prstGeom>
          <a:solidFill>
            <a:srgbClr val="C9A84C"/>
          </a:solidFill>
          <a:ln w="12700">
            <a:solidFill>
              <a:srgbClr val="C9A84C"/>
            </a:solidFill>
            <a:prstDash val="solid"/>
          </a:ln>
        </p:spPr>
      </p:sp>
      <p:sp>
        <p:nvSpPr>
          <p:cNvPr id="6" name="Text 4"/>
          <p:cNvSpPr/>
          <p:nvPr/>
        </p:nvSpPr>
        <p:spPr>
          <a:xfrm>
            <a:off x="548640" y="1143000"/>
            <a:ext cx="7772400" cy="2743200"/>
          </a:xfrm>
          <a:prstGeom prst="rect">
            <a:avLst/>
          </a:prstGeom>
          <a:noFill/>
          <a:ln/>
        </p:spPr>
        <p:txBody>
          <a:bodyPr wrap="square" lIns="0" tIns="0" rIns="0" bIns="0" rtlCol="0" anchor="ctr"/>
          <a:lstStyle/>
          <a:p>
            <a:pPr marL="0" indent="0">
              <a:lnSpc>
                <a:spcPct val="150000"/>
              </a:lnSpc>
              <a:buNone/>
            </a:pPr>
            <a:r>
              <a:rPr lang="en-US" sz="1350" dirty="0">
                <a:solidFill>
                  <a:srgbClr val="FFFFFF"/>
                </a:solidFill>
                <a:latin typeface="Calibri" pitchFamily="34" charset="0"/>
                <a:ea typeface="Calibri" pitchFamily="34" charset="-122"/>
                <a:cs typeface="Calibri" pitchFamily="34" charset="-120"/>
              </a:rPr>
              <a:t>Mobile app development is not a single decision — it is a chain of strategic choices that compound into a final product. The type of app you build determines your language. Your language shapes your framework. Your framework influences your architecture. Your architecture must satisfy requirements that are formally gathered, prioritised, and validated. And all of this must be done within a cost estimate that is realistic and well-structured.</a:t>
            </a:r>
            <a:endParaRPr lang="en-US" sz="1350" dirty="0"/>
          </a:p>
          <a:p>
            <a:pPr marL="0" indent="0">
              <a:lnSpc>
                <a:spcPct val="150000"/>
              </a:lnSpc>
              <a:buNone/>
            </a:pPr>
            <a:endParaRPr lang="en-US" sz="1350" dirty="0"/>
          </a:p>
          <a:p>
            <a:pPr marL="0" indent="0">
              <a:lnSpc>
                <a:spcPct val="150000"/>
              </a:lnSpc>
              <a:buNone/>
            </a:pPr>
            <a:r>
              <a:rPr lang="en-US" sz="1350" dirty="0">
                <a:solidFill>
                  <a:srgbClr val="FFFFFF"/>
                </a:solidFill>
                <a:latin typeface="Calibri" pitchFamily="34" charset="0"/>
                <a:ea typeface="Calibri" pitchFamily="34" charset="-122"/>
                <a:cs typeface="Calibri" pitchFamily="34" charset="-120"/>
              </a:rPr>
              <a:t>Teams that invest time in Requirement Engineering before writing code, choose appropriate architectures and design patterns for their scale, and select frameworks that match their technical profile are far more likely to deliver an efficient, scalable, and user-friendly application.</a:t>
            </a:r>
            <a:endParaRPr lang="en-US" sz="1350" dirty="0"/>
          </a:p>
        </p:txBody>
      </p:sp>
      <p:sp>
        <p:nvSpPr>
          <p:cNvPr id="7" name="Shape 5"/>
          <p:cNvSpPr/>
          <p:nvPr/>
        </p:nvSpPr>
        <p:spPr>
          <a:xfrm>
            <a:off x="256032" y="4114800"/>
            <a:ext cx="1170432" cy="347472"/>
          </a:xfrm>
          <a:prstGeom prst="rect">
            <a:avLst/>
          </a:prstGeom>
          <a:solidFill>
            <a:srgbClr val="243557"/>
          </a:solidFill>
          <a:ln w="12700">
            <a:solidFill>
              <a:srgbClr val="C9A84C"/>
            </a:solidFill>
            <a:prstDash val="solid"/>
          </a:ln>
        </p:spPr>
      </p:sp>
      <p:sp>
        <p:nvSpPr>
          <p:cNvPr id="8" name="Text 6"/>
          <p:cNvSpPr/>
          <p:nvPr/>
        </p:nvSpPr>
        <p:spPr>
          <a:xfrm>
            <a:off x="256032"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App Types</a:t>
            </a:r>
            <a:endParaRPr lang="en-US" sz="850" dirty="0"/>
          </a:p>
        </p:txBody>
      </p:sp>
      <p:sp>
        <p:nvSpPr>
          <p:cNvPr id="9" name="Shape 7"/>
          <p:cNvSpPr/>
          <p:nvPr/>
        </p:nvSpPr>
        <p:spPr>
          <a:xfrm>
            <a:off x="1499616" y="4114800"/>
            <a:ext cx="1170432" cy="347472"/>
          </a:xfrm>
          <a:prstGeom prst="rect">
            <a:avLst/>
          </a:prstGeom>
          <a:solidFill>
            <a:srgbClr val="243557"/>
          </a:solidFill>
          <a:ln w="12700">
            <a:solidFill>
              <a:srgbClr val="C9A84C"/>
            </a:solidFill>
            <a:prstDash val="solid"/>
          </a:ln>
        </p:spPr>
      </p:sp>
      <p:sp>
        <p:nvSpPr>
          <p:cNvPr id="10" name="Text 8"/>
          <p:cNvSpPr/>
          <p:nvPr/>
        </p:nvSpPr>
        <p:spPr>
          <a:xfrm>
            <a:off x="1499616"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Languages</a:t>
            </a:r>
            <a:endParaRPr lang="en-US" sz="850" dirty="0"/>
          </a:p>
        </p:txBody>
      </p:sp>
      <p:sp>
        <p:nvSpPr>
          <p:cNvPr id="11" name="Shape 9"/>
          <p:cNvSpPr/>
          <p:nvPr/>
        </p:nvSpPr>
        <p:spPr>
          <a:xfrm>
            <a:off x="2743200" y="4114800"/>
            <a:ext cx="1170432" cy="347472"/>
          </a:xfrm>
          <a:prstGeom prst="rect">
            <a:avLst/>
          </a:prstGeom>
          <a:solidFill>
            <a:srgbClr val="243557"/>
          </a:solidFill>
          <a:ln w="12700">
            <a:solidFill>
              <a:srgbClr val="C9A84C"/>
            </a:solidFill>
            <a:prstDash val="solid"/>
          </a:ln>
        </p:spPr>
      </p:sp>
      <p:sp>
        <p:nvSpPr>
          <p:cNvPr id="12" name="Text 10"/>
          <p:cNvSpPr/>
          <p:nvPr/>
        </p:nvSpPr>
        <p:spPr>
          <a:xfrm>
            <a:off x="2743200"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Frameworks</a:t>
            </a:r>
            <a:endParaRPr lang="en-US" sz="850" dirty="0"/>
          </a:p>
        </p:txBody>
      </p:sp>
      <p:sp>
        <p:nvSpPr>
          <p:cNvPr id="13" name="Shape 11"/>
          <p:cNvSpPr/>
          <p:nvPr/>
        </p:nvSpPr>
        <p:spPr>
          <a:xfrm>
            <a:off x="3986784" y="4114800"/>
            <a:ext cx="1170432" cy="347472"/>
          </a:xfrm>
          <a:prstGeom prst="rect">
            <a:avLst/>
          </a:prstGeom>
          <a:solidFill>
            <a:srgbClr val="243557"/>
          </a:solidFill>
          <a:ln w="12700">
            <a:solidFill>
              <a:srgbClr val="C9A84C"/>
            </a:solidFill>
            <a:prstDash val="solid"/>
          </a:ln>
        </p:spPr>
      </p:sp>
      <p:sp>
        <p:nvSpPr>
          <p:cNvPr id="14" name="Text 12"/>
          <p:cNvSpPr/>
          <p:nvPr/>
        </p:nvSpPr>
        <p:spPr>
          <a:xfrm>
            <a:off x="3986784"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Architecture</a:t>
            </a:r>
            <a:endParaRPr lang="en-US" sz="850" dirty="0"/>
          </a:p>
        </p:txBody>
      </p:sp>
      <p:sp>
        <p:nvSpPr>
          <p:cNvPr id="15" name="Shape 13"/>
          <p:cNvSpPr/>
          <p:nvPr/>
        </p:nvSpPr>
        <p:spPr>
          <a:xfrm>
            <a:off x="5230368" y="4114800"/>
            <a:ext cx="1170432" cy="347472"/>
          </a:xfrm>
          <a:prstGeom prst="rect">
            <a:avLst/>
          </a:prstGeom>
          <a:solidFill>
            <a:srgbClr val="243557"/>
          </a:solidFill>
          <a:ln w="12700">
            <a:solidFill>
              <a:srgbClr val="C9A84C"/>
            </a:solidFill>
            <a:prstDash val="solid"/>
          </a:ln>
        </p:spPr>
      </p:sp>
      <p:sp>
        <p:nvSpPr>
          <p:cNvPr id="16" name="Text 14"/>
          <p:cNvSpPr/>
          <p:nvPr/>
        </p:nvSpPr>
        <p:spPr>
          <a:xfrm>
            <a:off x="5230368"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Design Patterns</a:t>
            </a:r>
            <a:endParaRPr lang="en-US" sz="850" dirty="0"/>
          </a:p>
        </p:txBody>
      </p:sp>
      <p:sp>
        <p:nvSpPr>
          <p:cNvPr id="17" name="Shape 15"/>
          <p:cNvSpPr/>
          <p:nvPr/>
        </p:nvSpPr>
        <p:spPr>
          <a:xfrm>
            <a:off x="6473952" y="4114800"/>
            <a:ext cx="1170432" cy="347472"/>
          </a:xfrm>
          <a:prstGeom prst="rect">
            <a:avLst/>
          </a:prstGeom>
          <a:solidFill>
            <a:srgbClr val="243557"/>
          </a:solidFill>
          <a:ln w="12700">
            <a:solidFill>
              <a:srgbClr val="C9A84C"/>
            </a:solidFill>
            <a:prstDash val="solid"/>
          </a:ln>
        </p:spPr>
      </p:sp>
      <p:sp>
        <p:nvSpPr>
          <p:cNvPr id="18" name="Text 16"/>
          <p:cNvSpPr/>
          <p:nvPr/>
        </p:nvSpPr>
        <p:spPr>
          <a:xfrm>
            <a:off x="6473952"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Requirements</a:t>
            </a:r>
            <a:endParaRPr lang="en-US" sz="850" dirty="0"/>
          </a:p>
        </p:txBody>
      </p:sp>
      <p:sp>
        <p:nvSpPr>
          <p:cNvPr id="19" name="Shape 17"/>
          <p:cNvSpPr/>
          <p:nvPr/>
        </p:nvSpPr>
        <p:spPr>
          <a:xfrm>
            <a:off x="7717536" y="4114800"/>
            <a:ext cx="1170432" cy="347472"/>
          </a:xfrm>
          <a:prstGeom prst="rect">
            <a:avLst/>
          </a:prstGeom>
          <a:solidFill>
            <a:srgbClr val="243557"/>
          </a:solidFill>
          <a:ln w="12700">
            <a:solidFill>
              <a:srgbClr val="C9A84C"/>
            </a:solidFill>
            <a:prstDash val="solid"/>
          </a:ln>
        </p:spPr>
      </p:sp>
      <p:sp>
        <p:nvSpPr>
          <p:cNvPr id="20" name="Text 18"/>
          <p:cNvSpPr/>
          <p:nvPr/>
        </p:nvSpPr>
        <p:spPr>
          <a:xfrm>
            <a:off x="7717536" y="4114800"/>
            <a:ext cx="1170432" cy="347472"/>
          </a:xfrm>
          <a:prstGeom prst="rect">
            <a:avLst/>
          </a:prstGeom>
          <a:noFill/>
          <a:ln/>
        </p:spPr>
        <p:txBody>
          <a:bodyPr wrap="square" lIns="0" tIns="0" rIns="0" bIns="0" rtlCol="0" anchor="ctr"/>
          <a:lstStyle/>
          <a:p>
            <a:pPr marL="0" indent="0" algn="ctr">
              <a:buNone/>
            </a:pPr>
            <a:r>
              <a:rPr lang="en-US" sz="850" dirty="0">
                <a:solidFill>
                  <a:srgbClr val="E8C96A"/>
                </a:solidFill>
                <a:latin typeface="Calibri" pitchFamily="34" charset="0"/>
                <a:ea typeface="Calibri" pitchFamily="34" charset="-122"/>
                <a:cs typeface="Calibri" pitchFamily="34" charset="-120"/>
              </a:rPr>
              <a:t>Cost Estimation</a:t>
            </a:r>
            <a:endParaRPr lang="en-US" sz="850" dirty="0"/>
          </a:p>
        </p:txBody>
      </p:sp>
      <p:sp>
        <p:nvSpPr>
          <p:cNvPr id="21" name="Text 19"/>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Group 14  ·  CEF440  ·  University of Buea  ·  Dr. Nkemeni Valery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1602</Words>
  <Application>Microsoft Office PowerPoint</Application>
  <PresentationFormat>On-screen Show (16:9)</PresentationFormat>
  <Paragraphs>295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CEF440 Task 1 – Mobile Programming</dc:title>
  <dc:subject>PptxGenJS Presentation</dc:subject>
  <dc:creator>PptxGenJS</dc:creator>
  <cp:lastModifiedBy>NEWBORN COMPUTER</cp:lastModifiedBy>
  <cp:revision>2</cp:revision>
  <dcterms:created xsi:type="dcterms:W3CDTF">2026-04-06T10:48:33Z</dcterms:created>
  <dcterms:modified xsi:type="dcterms:W3CDTF">2026-04-06T09:53:40Z</dcterms:modified>
</cp:coreProperties>
</file>